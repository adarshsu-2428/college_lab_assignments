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4" r:id="rId5"/>
    <p:sldId id="259" r:id="rId6"/>
    <p:sldId id="261" r:id="rId7"/>
    <p:sldId id="262" r:id="rId8"/>
    <p:sldId id="263" r:id="rId9"/>
    <p:sldId id="264" r:id="rId10"/>
    <p:sldId id="265" r:id="rId11"/>
    <p:sldId id="266" r:id="rId12"/>
    <p:sldId id="267" r:id="rId13"/>
    <p:sldId id="268" r:id="rId14"/>
    <p:sldId id="269" r:id="rId15"/>
    <p:sldId id="270" r:id="rId16"/>
    <p:sldId id="275" r:id="rId17"/>
    <p:sldId id="276" r:id="rId18"/>
    <p:sldId id="277" r:id="rId19"/>
    <p:sldId id="271"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F988F-8CF4-AD8B-FD49-978AC3515A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D1E548-A112-0B5D-2A5B-6583D116D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227188-5256-D7B0-9F9D-D825FE1477FF}"/>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6C1206ED-1A0D-89FD-08F8-B649A4BBC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E2B2B5-5B1C-5FE6-0575-EE37120E3F14}"/>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1406530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FB12-ADC8-5808-1192-B95A91431D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1EA8F8-BF64-D5DD-89E0-8D867C5186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216FCF-B0F5-1E9F-22DD-73471CEB8BB7}"/>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A7D2B5FC-55E7-42B8-1B70-07B47A8F9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76967-DC2F-182F-D077-4F3FB8E454C4}"/>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3860971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C5A7C-D65F-B302-23A5-117F8B11F6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74A9AA-E18E-358B-0CAF-EC9501C57C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FF91AF-A07F-1973-7984-E362D5266FF4}"/>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117CFA8C-BFA6-0BD2-CF71-841D8F242C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DF0966-911A-49EB-63E0-C2C4FE157353}"/>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3923403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67F1-21A8-0786-5169-79399E5974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CDB367-C8E4-3704-CE2B-9EE9A181E3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F73CD1-F514-F31F-EC7C-58669AE515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AE6493-AC88-05B2-A339-3E21893DCD7F}"/>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6" name="Footer Placeholder 5">
            <a:extLst>
              <a:ext uri="{FF2B5EF4-FFF2-40B4-BE49-F238E27FC236}">
                <a16:creationId xmlns:a16="http://schemas.microsoft.com/office/drawing/2014/main" id="{9D813051-741A-9227-15F7-1E3D8F45A4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AE3557-88F4-8752-74A6-8C45A73377FE}"/>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203125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6D69F-03F6-703D-ACED-DAFC351319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7DAACF-F045-C63D-92E4-51293FE237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1E5579-8476-1CFD-D106-867A4A3DAE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16F421-D5DE-1EA4-1EE2-5EDA50B32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0B88FA-6183-489B-D76A-2CB070C0F9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D7A5F9-A15C-E133-72B4-E2229569D036}"/>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8" name="Footer Placeholder 7">
            <a:extLst>
              <a:ext uri="{FF2B5EF4-FFF2-40B4-BE49-F238E27FC236}">
                <a16:creationId xmlns:a16="http://schemas.microsoft.com/office/drawing/2014/main" id="{EEDAE7F9-6F91-C1DA-C580-463AE4508C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F024B4-642B-0565-664C-66957D41F148}"/>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3222090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D8631-2144-62BC-DC8D-18DF5D75F4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B8502C-9AB5-BE02-93C7-42E8C063C065}"/>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4" name="Footer Placeholder 3">
            <a:extLst>
              <a:ext uri="{FF2B5EF4-FFF2-40B4-BE49-F238E27FC236}">
                <a16:creationId xmlns:a16="http://schemas.microsoft.com/office/drawing/2014/main" id="{EAE1A1D9-567E-7B9E-C94D-082D185CB8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0C2286-9BF5-6D57-57F7-8B19DA9B70FB}"/>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2814850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9A9424-09A0-CED6-0264-25FDB8BC4955}"/>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3" name="Footer Placeholder 2">
            <a:extLst>
              <a:ext uri="{FF2B5EF4-FFF2-40B4-BE49-F238E27FC236}">
                <a16:creationId xmlns:a16="http://schemas.microsoft.com/office/drawing/2014/main" id="{D7645959-2DB5-23BE-FEC9-C7F3D592B8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1A7F2FC-1E4C-60CF-057E-8724670FC5AF}"/>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1718912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AF253-E0C6-D84D-6D02-9F5E8EC80F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6906EB-6E43-7C19-A4EC-BDEFA5C61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11293C-D1F9-38C3-26EE-ACE22866D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D54945-F01E-BFBB-4F46-04DC64788E1F}"/>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6" name="Footer Placeholder 5">
            <a:extLst>
              <a:ext uri="{FF2B5EF4-FFF2-40B4-BE49-F238E27FC236}">
                <a16:creationId xmlns:a16="http://schemas.microsoft.com/office/drawing/2014/main" id="{EAD012A3-DC51-4C03-F424-7A2F0E936C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60FBE5-D93F-08DF-7946-0CD71B51109F}"/>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2267811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4F10-6434-010F-F030-A4B10C988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6BF0C2-D544-CB05-A2E3-D9FACEE47C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419312-36B5-AE04-E3D1-3B0C9E6A46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D6EDE-D70E-975A-CAC6-CCE20D480B3A}"/>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6" name="Footer Placeholder 5">
            <a:extLst>
              <a:ext uri="{FF2B5EF4-FFF2-40B4-BE49-F238E27FC236}">
                <a16:creationId xmlns:a16="http://schemas.microsoft.com/office/drawing/2014/main" id="{D277E603-76C4-D403-511A-B37E4EB12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AFAFCB-E4C1-5CA0-B135-DBB2E5CA34B8}"/>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1010838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81E99-694D-756C-679A-19DDAD4597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E8CFC2-3493-5F5B-14E9-1F1F17A99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AE648C-1768-BCE1-EE3C-453E02A1D783}"/>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C6E48394-437E-67D7-FD6F-DB83DF9097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8D182-CFDE-A282-A241-50CB706274C8}"/>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394308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2276F-B5C3-242B-3B45-3E2F40F534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8082A5-6701-F3BF-C019-C33D23B4A3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16A74D-EFAF-91AB-2EC8-DE2B3AE273DD}"/>
              </a:ext>
            </a:extLst>
          </p:cNvPr>
          <p:cNvSpPr>
            <a:spLocks noGrp="1"/>
          </p:cNvSpPr>
          <p:nvPr>
            <p:ph type="dt" sz="half" idx="10"/>
          </p:nvPr>
        </p:nvSpPr>
        <p:spPr/>
        <p:txBody>
          <a:body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52CFBBF3-D11F-DAC0-0452-DEF21C0D40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93612-11FE-CCD1-9A79-2E46D88BD35B}"/>
              </a:ext>
            </a:extLst>
          </p:cNvPr>
          <p:cNvSpPr>
            <a:spLocks noGrp="1"/>
          </p:cNvSpPr>
          <p:nvPr>
            <p:ph type="sldNum" sz="quarter" idx="12"/>
          </p:nvPr>
        </p:nvSpPr>
        <p:spPr/>
        <p:txBody>
          <a:bodyPr/>
          <a:lstStyle/>
          <a:p>
            <a:fld id="{3EC680EB-EC5E-4E05-99FA-797E5DDF954A}" type="slidenum">
              <a:rPr lang="en-IN" smtClean="0"/>
              <a:t>‹#›</a:t>
            </a:fld>
            <a:endParaRPr lang="en-IN"/>
          </a:p>
        </p:txBody>
      </p:sp>
    </p:spTree>
    <p:extLst>
      <p:ext uri="{BB962C8B-B14F-4D97-AF65-F5344CB8AC3E}">
        <p14:creationId xmlns:p14="http://schemas.microsoft.com/office/powerpoint/2010/main" val="319115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A02BF-8507-5A67-9C0E-819B173B50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67A014-DB6D-1975-C1CC-AF7D723A5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E33CB9-6036-398A-B9DD-60768FBE51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D940BE-0624-49F4-8E04-79C1F1A0CB4C}" type="datetimeFigureOut">
              <a:rPr lang="en-IN" smtClean="0"/>
              <a:t>03-02-2026</a:t>
            </a:fld>
            <a:endParaRPr lang="en-IN"/>
          </a:p>
        </p:txBody>
      </p:sp>
      <p:sp>
        <p:nvSpPr>
          <p:cNvPr id="5" name="Footer Placeholder 4">
            <a:extLst>
              <a:ext uri="{FF2B5EF4-FFF2-40B4-BE49-F238E27FC236}">
                <a16:creationId xmlns:a16="http://schemas.microsoft.com/office/drawing/2014/main" id="{6FC15222-C7C3-EC6D-B586-9215FA646E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491A06-5E47-275F-C13E-CD227C871A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C680EB-EC5E-4E05-99FA-797E5DDF954A}" type="slidenum">
              <a:rPr lang="en-IN" smtClean="0"/>
              <a:t>‹#›</a:t>
            </a:fld>
            <a:endParaRPr lang="en-IN"/>
          </a:p>
        </p:txBody>
      </p:sp>
    </p:spTree>
    <p:extLst>
      <p:ext uri="{BB962C8B-B14F-4D97-AF65-F5344CB8AC3E}">
        <p14:creationId xmlns:p14="http://schemas.microsoft.com/office/powerpoint/2010/main" val="823016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26D97-5004-1EED-CAF4-F0D959ED9788}"/>
              </a:ext>
            </a:extLst>
          </p:cNvPr>
          <p:cNvSpPr>
            <a:spLocks noGrp="1"/>
          </p:cNvSpPr>
          <p:nvPr>
            <p:ph type="ctrTitle"/>
          </p:nvPr>
        </p:nvSpPr>
        <p:spPr/>
        <p:txBody>
          <a:bodyPr/>
          <a:lstStyle/>
          <a:p>
            <a:r>
              <a:rPr lang="en-IN" dirty="0"/>
              <a:t>8085 Assembly Language</a:t>
            </a:r>
          </a:p>
        </p:txBody>
      </p:sp>
      <p:sp>
        <p:nvSpPr>
          <p:cNvPr id="3" name="Subtitle 2">
            <a:extLst>
              <a:ext uri="{FF2B5EF4-FFF2-40B4-BE49-F238E27FC236}">
                <a16:creationId xmlns:a16="http://schemas.microsoft.com/office/drawing/2014/main" id="{018930FE-0394-DE25-A5BB-5C8E7897C21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52192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8156-E5AA-9741-F0AC-7BB2FB79B276}"/>
              </a:ext>
            </a:extLst>
          </p:cNvPr>
          <p:cNvSpPr>
            <a:spLocks noGrp="1"/>
          </p:cNvSpPr>
          <p:nvPr>
            <p:ph type="title"/>
          </p:nvPr>
        </p:nvSpPr>
        <p:spPr/>
        <p:txBody>
          <a:bodyPr/>
          <a:lstStyle/>
          <a:p>
            <a:r>
              <a:rPr lang="en-IN" dirty="0"/>
              <a:t>Experiment</a:t>
            </a:r>
          </a:p>
        </p:txBody>
      </p:sp>
      <p:sp>
        <p:nvSpPr>
          <p:cNvPr id="3" name="Content Placeholder 2">
            <a:extLst>
              <a:ext uri="{FF2B5EF4-FFF2-40B4-BE49-F238E27FC236}">
                <a16:creationId xmlns:a16="http://schemas.microsoft.com/office/drawing/2014/main" id="{4DFDCA44-92FF-3052-2D86-5849067389F3}"/>
              </a:ext>
            </a:extLst>
          </p:cNvPr>
          <p:cNvSpPr>
            <a:spLocks noGrp="1"/>
          </p:cNvSpPr>
          <p:nvPr>
            <p:ph idx="1"/>
          </p:nvPr>
        </p:nvSpPr>
        <p:spPr/>
        <p:txBody>
          <a:bodyPr/>
          <a:lstStyle/>
          <a:p>
            <a:pPr>
              <a:lnSpc>
                <a:spcPct val="150000"/>
              </a:lnSpc>
            </a:pPr>
            <a:r>
              <a:rPr lang="en-US" dirty="0"/>
              <a:t>To learn assembly language program and understand the concept of different types of byte instruction execution in 8085 architecture.</a:t>
            </a:r>
          </a:p>
          <a:p>
            <a:pPr marL="0" marR="2252980" indent="0">
              <a:lnSpc>
                <a:spcPct val="250000"/>
              </a:lnSpc>
              <a:spcBef>
                <a:spcPts val="290"/>
              </a:spcBef>
              <a:spcAft>
                <a:spcPts val="0"/>
              </a:spcAft>
              <a:buNone/>
            </a:pPr>
            <a:r>
              <a:rPr lang="en-IN" sz="1800" b="1" dirty="0">
                <a:effectLst/>
                <a:latin typeface="Verdana" panose="020B0604030504040204" pitchFamily="34" charset="0"/>
              </a:rPr>
              <a:t>General requirements</a:t>
            </a:r>
            <a:r>
              <a:rPr lang="en-IN" sz="1800" dirty="0">
                <a:effectLst/>
                <a:latin typeface="Verdana" panose="020B0604030504040204" pitchFamily="34" charset="0"/>
              </a:rPr>
              <a:t> :</a:t>
            </a:r>
          </a:p>
          <a:p>
            <a:pPr marL="0" marR="0" indent="0">
              <a:lnSpc>
                <a:spcPts val="1350"/>
              </a:lnSpc>
              <a:spcBef>
                <a:spcPts val="0"/>
              </a:spcBef>
              <a:spcAft>
                <a:spcPts val="0"/>
              </a:spcAft>
              <a:buNone/>
            </a:pPr>
            <a:r>
              <a:rPr lang="en-IN" sz="1800" b="1" dirty="0">
                <a:effectLst/>
                <a:latin typeface="Verdana" panose="020B0604030504040204" pitchFamily="34" charset="0"/>
              </a:rPr>
              <a:t>Software</a:t>
            </a:r>
            <a:r>
              <a:rPr lang="en-IN" sz="1800" b="1" spc="-15" dirty="0">
                <a:effectLst/>
                <a:latin typeface="Verdana" panose="020B0604030504040204" pitchFamily="34" charset="0"/>
              </a:rPr>
              <a:t> </a:t>
            </a:r>
            <a:r>
              <a:rPr lang="en-IN" sz="1800" b="1" dirty="0">
                <a:effectLst/>
                <a:latin typeface="Verdana" panose="020B0604030504040204" pitchFamily="34" charset="0"/>
              </a:rPr>
              <a:t>requirements</a:t>
            </a:r>
            <a:r>
              <a:rPr lang="en-IN" sz="1800" dirty="0">
                <a:effectLst/>
                <a:latin typeface="Verdana" panose="020B0604030504040204" pitchFamily="34" charset="0"/>
              </a:rPr>
              <a:t>:</a:t>
            </a:r>
            <a:r>
              <a:rPr lang="en-IN" sz="1800" spc="-5" dirty="0">
                <a:effectLst/>
                <a:latin typeface="Verdana" panose="020B0604030504040204" pitchFamily="34" charset="0"/>
              </a:rPr>
              <a:t> </a:t>
            </a:r>
            <a:r>
              <a:rPr lang="en-IN" sz="1800" dirty="0">
                <a:effectLst/>
                <a:latin typeface="Verdana" panose="020B0604030504040204" pitchFamily="34" charset="0"/>
              </a:rPr>
              <a:t>GNU</a:t>
            </a:r>
            <a:r>
              <a:rPr lang="en-IN" sz="1800" spc="-10" dirty="0">
                <a:effectLst/>
                <a:latin typeface="Verdana" panose="020B0604030504040204" pitchFamily="34" charset="0"/>
              </a:rPr>
              <a:t> </a:t>
            </a:r>
            <a:r>
              <a:rPr lang="en-IN" sz="1800" dirty="0">
                <a:effectLst/>
                <a:latin typeface="Verdana" panose="020B0604030504040204" pitchFamily="34" charset="0"/>
              </a:rPr>
              <a:t>Sim</a:t>
            </a:r>
            <a:r>
              <a:rPr lang="en-IN" sz="1800" spc="-5" dirty="0">
                <a:effectLst/>
                <a:latin typeface="Verdana" panose="020B0604030504040204" pitchFamily="34" charset="0"/>
              </a:rPr>
              <a:t> </a:t>
            </a:r>
            <a:r>
              <a:rPr lang="en-IN" sz="1800" dirty="0">
                <a:effectLst/>
                <a:latin typeface="Verdana" panose="020B0604030504040204" pitchFamily="34" charset="0"/>
              </a:rPr>
              <a:t>8085</a:t>
            </a:r>
          </a:p>
          <a:p>
            <a:pPr marL="0" marR="0" indent="0">
              <a:spcBef>
                <a:spcPts val="55"/>
              </a:spcBef>
              <a:spcAft>
                <a:spcPts val="0"/>
              </a:spcAft>
              <a:buNone/>
            </a:pPr>
            <a:r>
              <a:rPr lang="en-IN" sz="1800" dirty="0">
                <a:effectLst/>
                <a:latin typeface="Verdana" panose="020B0604030504040204" pitchFamily="34" charset="0"/>
              </a:rPr>
              <a:t> </a:t>
            </a:r>
          </a:p>
          <a:p>
            <a:pPr marL="0" indent="0">
              <a:buNone/>
            </a:pPr>
            <a:r>
              <a:rPr lang="en-IN" sz="1800" b="1" dirty="0">
                <a:effectLst/>
                <a:latin typeface="Verdana" panose="020B0604030504040204" pitchFamily="34" charset="0"/>
              </a:rPr>
              <a:t>Operating</a:t>
            </a:r>
            <a:r>
              <a:rPr lang="en-IN" sz="1800" b="1" spc="-10" dirty="0">
                <a:effectLst/>
                <a:latin typeface="Verdana" panose="020B0604030504040204" pitchFamily="34" charset="0"/>
              </a:rPr>
              <a:t> </a:t>
            </a:r>
            <a:r>
              <a:rPr lang="en-IN" sz="1800" b="1" dirty="0">
                <a:effectLst/>
                <a:latin typeface="Verdana" panose="020B0604030504040204" pitchFamily="34" charset="0"/>
              </a:rPr>
              <a:t>System:</a:t>
            </a:r>
            <a:r>
              <a:rPr lang="en-IN" sz="1800" b="1" spc="-5" dirty="0">
                <a:effectLst/>
                <a:latin typeface="Verdana" panose="020B0604030504040204" pitchFamily="34" charset="0"/>
              </a:rPr>
              <a:t> </a:t>
            </a:r>
            <a:r>
              <a:rPr lang="en-IN" sz="1800" b="0" dirty="0">
                <a:effectLst/>
                <a:latin typeface="Verdana" panose="020B0604030504040204" pitchFamily="34" charset="0"/>
              </a:rPr>
              <a:t>Windows 7</a:t>
            </a:r>
            <a:endParaRPr lang="en-IN" sz="1800" b="1" dirty="0">
              <a:effectLst/>
              <a:latin typeface="Verdana" panose="020B0604030504040204" pitchFamily="34" charset="0"/>
            </a:endParaRPr>
          </a:p>
          <a:p>
            <a:pPr marL="0" marR="0" indent="0">
              <a:spcBef>
                <a:spcPts val="0"/>
              </a:spcBef>
              <a:spcAft>
                <a:spcPts val="0"/>
              </a:spcAft>
              <a:buNone/>
            </a:pPr>
            <a:r>
              <a:rPr lang="en-IN" sz="1800" b="1" dirty="0">
                <a:effectLst/>
                <a:latin typeface="Verdana" panose="020B0604030504040204" pitchFamily="34" charset="0"/>
              </a:rPr>
              <a:t> </a:t>
            </a:r>
            <a:endParaRPr lang="en-IN" sz="1800" dirty="0">
              <a:effectLst/>
              <a:latin typeface="Verdana" panose="020B0604030504040204" pitchFamily="34" charset="0"/>
            </a:endParaRPr>
          </a:p>
          <a:p>
            <a:pPr marL="0" marR="0" indent="0">
              <a:spcBef>
                <a:spcPts val="0"/>
              </a:spcBef>
              <a:spcAft>
                <a:spcPts val="0"/>
              </a:spcAft>
              <a:buNone/>
            </a:pPr>
            <a:r>
              <a:rPr lang="en-IN" sz="1800" b="1" dirty="0">
                <a:effectLst/>
                <a:latin typeface="Verdana" panose="020B0604030504040204" pitchFamily="34" charset="0"/>
              </a:rPr>
              <a:t>Hardware</a:t>
            </a:r>
            <a:r>
              <a:rPr lang="en-IN" sz="1800" b="1" spc="-15" dirty="0">
                <a:effectLst/>
                <a:latin typeface="Verdana" panose="020B0604030504040204" pitchFamily="34" charset="0"/>
              </a:rPr>
              <a:t> </a:t>
            </a:r>
            <a:r>
              <a:rPr lang="en-IN" sz="1800" b="1" dirty="0">
                <a:effectLst/>
                <a:latin typeface="Verdana" panose="020B0604030504040204" pitchFamily="34" charset="0"/>
              </a:rPr>
              <a:t>requirements: </a:t>
            </a:r>
            <a:r>
              <a:rPr lang="en-IN" sz="1800" dirty="0">
                <a:effectLst/>
                <a:latin typeface="Verdana" panose="020B0604030504040204" pitchFamily="34" charset="0"/>
              </a:rPr>
              <a:t>P-IV</a:t>
            </a:r>
            <a:r>
              <a:rPr lang="en-IN" sz="1800" spc="-5" dirty="0">
                <a:effectLst/>
                <a:latin typeface="Verdana" panose="020B0604030504040204" pitchFamily="34" charset="0"/>
              </a:rPr>
              <a:t> </a:t>
            </a:r>
            <a:r>
              <a:rPr lang="en-IN" sz="1800" dirty="0">
                <a:effectLst/>
                <a:latin typeface="Verdana" panose="020B0604030504040204" pitchFamily="34" charset="0"/>
              </a:rPr>
              <a:t>C2D</a:t>
            </a:r>
            <a:r>
              <a:rPr lang="en-IN" sz="1800" spc="-5" dirty="0">
                <a:effectLst/>
                <a:latin typeface="Verdana" panose="020B0604030504040204" pitchFamily="34" charset="0"/>
              </a:rPr>
              <a:t> </a:t>
            </a:r>
            <a:r>
              <a:rPr lang="en-IN" sz="1800" dirty="0">
                <a:effectLst/>
                <a:latin typeface="Verdana" panose="020B0604030504040204" pitchFamily="34" charset="0"/>
              </a:rPr>
              <a:t>2.9 GHZ</a:t>
            </a:r>
          </a:p>
          <a:p>
            <a:pPr marL="0" marR="0" indent="0">
              <a:spcBef>
                <a:spcPts val="5"/>
              </a:spcBef>
              <a:spcAft>
                <a:spcPts val="0"/>
              </a:spcAft>
              <a:buNone/>
            </a:pPr>
            <a:endParaRPr lang="en-IN" sz="1800" dirty="0">
              <a:effectLst/>
              <a:latin typeface="Verdana" panose="020B0604030504040204" pitchFamily="34" charset="0"/>
            </a:endParaRPr>
          </a:p>
          <a:p>
            <a:pPr marL="0" marR="0" indent="0">
              <a:spcBef>
                <a:spcPts val="0"/>
              </a:spcBef>
              <a:spcAft>
                <a:spcPts val="0"/>
              </a:spcAft>
              <a:buNone/>
            </a:pPr>
            <a:r>
              <a:rPr lang="en-IN" sz="1800" dirty="0">
                <a:effectLst/>
                <a:latin typeface="Verdana" panose="020B0604030504040204" pitchFamily="34" charset="0"/>
              </a:rPr>
              <a:t>                                      320 GB</a:t>
            </a:r>
            <a:r>
              <a:rPr lang="en-IN" sz="1800" spc="-15" dirty="0">
                <a:effectLst/>
                <a:latin typeface="Verdana" panose="020B0604030504040204" pitchFamily="34" charset="0"/>
              </a:rPr>
              <a:t> </a:t>
            </a:r>
            <a:r>
              <a:rPr lang="en-IN" sz="1800" dirty="0">
                <a:effectLst/>
                <a:latin typeface="Verdana" panose="020B0604030504040204" pitchFamily="34" charset="0"/>
              </a:rPr>
              <a:t>HDD/2 GB</a:t>
            </a:r>
            <a:r>
              <a:rPr lang="en-IN" sz="1800" spc="-10" dirty="0">
                <a:effectLst/>
                <a:latin typeface="Verdana" panose="020B0604030504040204" pitchFamily="34" charset="0"/>
              </a:rPr>
              <a:t> </a:t>
            </a:r>
            <a:r>
              <a:rPr lang="en-IN" sz="1800" dirty="0">
                <a:effectLst/>
                <a:latin typeface="Verdana" panose="020B0604030504040204" pitchFamily="34" charset="0"/>
              </a:rPr>
              <a:t>RAM</a:t>
            </a:r>
          </a:p>
          <a:p>
            <a:pPr marL="0" indent="0">
              <a:lnSpc>
                <a:spcPct val="150000"/>
              </a:lnSpc>
              <a:buNone/>
            </a:pPr>
            <a:endParaRPr lang="en-IN" b="1" dirty="0"/>
          </a:p>
        </p:txBody>
      </p:sp>
    </p:spTree>
    <p:extLst>
      <p:ext uri="{BB962C8B-B14F-4D97-AF65-F5344CB8AC3E}">
        <p14:creationId xmlns:p14="http://schemas.microsoft.com/office/powerpoint/2010/main" val="420815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0A9E-F750-B53A-70E5-3FD951DB7E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208AFA-2272-0DE5-D84C-8A8A5E4D331D}"/>
              </a:ext>
            </a:extLst>
          </p:cNvPr>
          <p:cNvSpPr>
            <a:spLocks noGrp="1"/>
          </p:cNvSpPr>
          <p:nvPr>
            <p:ph idx="1"/>
          </p:nvPr>
        </p:nvSpPr>
        <p:spPr/>
        <p:txBody>
          <a:bodyPr/>
          <a:lstStyle/>
          <a:p>
            <a:pPr>
              <a:lnSpc>
                <a:spcPct val="150000"/>
              </a:lnSpc>
            </a:pPr>
            <a:r>
              <a:rPr lang="en-US" dirty="0"/>
              <a:t>Assembly language is a low-level programming language used to interface with computer hardware.</a:t>
            </a:r>
          </a:p>
          <a:p>
            <a:pPr>
              <a:lnSpc>
                <a:spcPct val="150000"/>
              </a:lnSpc>
            </a:pPr>
            <a:r>
              <a:rPr lang="en-US" dirty="0"/>
              <a:t> Assembly language uses structured commands as substitutions for numbers allowing humans to read the code easier than looking at binary.</a:t>
            </a:r>
            <a:endParaRPr lang="en-IN" dirty="0"/>
          </a:p>
        </p:txBody>
      </p:sp>
    </p:spTree>
    <p:extLst>
      <p:ext uri="{BB962C8B-B14F-4D97-AF65-F5344CB8AC3E}">
        <p14:creationId xmlns:p14="http://schemas.microsoft.com/office/powerpoint/2010/main" val="55060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7A049-D3A9-0B07-1992-54F0F87B5589}"/>
              </a:ext>
            </a:extLst>
          </p:cNvPr>
          <p:cNvSpPr>
            <a:spLocks noGrp="1"/>
          </p:cNvSpPr>
          <p:nvPr>
            <p:ph type="title"/>
          </p:nvPr>
        </p:nvSpPr>
        <p:spPr/>
        <p:txBody>
          <a:bodyPr>
            <a:normAutofit fontScale="90000"/>
          </a:bodyPr>
          <a:lstStyle/>
          <a:p>
            <a:r>
              <a:rPr kumimoji="0" lang="en-US" altLang="en-US" sz="4400" b="1" i="0" u="none" strike="noStrike" cap="none" normalizeH="0" baseline="0" dirty="0">
                <a:ln>
                  <a:noFill/>
                </a:ln>
                <a:solidFill>
                  <a:schemeClr val="tx1"/>
                </a:solidFill>
                <a:effectLst/>
                <a:latin typeface="Verdana" panose="020B0604030504040204" pitchFamily="34" charset="0"/>
              </a:rPr>
              <a:t>Format of the instruction in assembly language is :-</a:t>
            </a:r>
            <a:br>
              <a:rPr kumimoji="0" lang="en-US" altLang="en-US" sz="2400" b="0" i="0" u="none" strike="noStrike" cap="none" normalizeH="0" baseline="0" dirty="0">
                <a:ln>
                  <a:noFill/>
                </a:ln>
                <a:solidFill>
                  <a:schemeClr val="tx1"/>
                </a:solidFill>
                <a:effectLst/>
              </a:rPr>
            </a:br>
            <a:endParaRPr lang="en-IN" dirty="0"/>
          </a:p>
        </p:txBody>
      </p:sp>
      <p:graphicFrame>
        <p:nvGraphicFramePr>
          <p:cNvPr id="4" name="Content Placeholder 3">
            <a:extLst>
              <a:ext uri="{FF2B5EF4-FFF2-40B4-BE49-F238E27FC236}">
                <a16:creationId xmlns:a16="http://schemas.microsoft.com/office/drawing/2014/main" id="{F222724B-69E5-341E-4F57-48A6F293BD97}"/>
              </a:ext>
            </a:extLst>
          </p:cNvPr>
          <p:cNvGraphicFramePr>
            <a:graphicFrameLocks noGrp="1"/>
          </p:cNvGraphicFramePr>
          <p:nvPr>
            <p:ph idx="1"/>
            <p:extLst>
              <p:ext uri="{D42A27DB-BD31-4B8C-83A1-F6EECF244321}">
                <p14:modId xmlns:p14="http://schemas.microsoft.com/office/powerpoint/2010/main" val="25882250"/>
              </p:ext>
            </p:extLst>
          </p:nvPr>
        </p:nvGraphicFramePr>
        <p:xfrm>
          <a:off x="1607151" y="1953276"/>
          <a:ext cx="8899117" cy="1325562"/>
        </p:xfrm>
        <a:graphic>
          <a:graphicData uri="http://schemas.openxmlformats.org/drawingml/2006/table">
            <a:tbl>
              <a:tblPr>
                <a:tableStyleId>{5C22544A-7EE6-4342-B048-85BDC9FD1C3A}</a:tableStyleId>
              </a:tblPr>
              <a:tblGrid>
                <a:gridCol w="2794046">
                  <a:extLst>
                    <a:ext uri="{9D8B030D-6E8A-4147-A177-3AD203B41FA5}">
                      <a16:colId xmlns:a16="http://schemas.microsoft.com/office/drawing/2014/main" val="1935506320"/>
                    </a:ext>
                  </a:extLst>
                </a:gridCol>
                <a:gridCol w="3936802">
                  <a:extLst>
                    <a:ext uri="{9D8B030D-6E8A-4147-A177-3AD203B41FA5}">
                      <a16:colId xmlns:a16="http://schemas.microsoft.com/office/drawing/2014/main" val="3315666251"/>
                    </a:ext>
                  </a:extLst>
                </a:gridCol>
                <a:gridCol w="2168269">
                  <a:extLst>
                    <a:ext uri="{9D8B030D-6E8A-4147-A177-3AD203B41FA5}">
                      <a16:colId xmlns:a16="http://schemas.microsoft.com/office/drawing/2014/main" val="184936398"/>
                    </a:ext>
                  </a:extLst>
                </a:gridCol>
              </a:tblGrid>
              <a:tr h="680275">
                <a:tc>
                  <a:txBody>
                    <a:bodyPr/>
                    <a:lstStyle/>
                    <a:p>
                      <a:pPr marL="67945" algn="ctr">
                        <a:lnSpc>
                          <a:spcPts val="1280"/>
                        </a:lnSpc>
                      </a:pPr>
                      <a:endParaRPr lang="en-IN" sz="2400" dirty="0">
                        <a:effectLst/>
                      </a:endParaRPr>
                    </a:p>
                    <a:p>
                      <a:pPr marL="67945" algn="ctr">
                        <a:lnSpc>
                          <a:spcPts val="1280"/>
                        </a:lnSpc>
                      </a:pPr>
                      <a:r>
                        <a:rPr lang="en-IN" sz="2400" dirty="0">
                          <a:effectLst/>
                        </a:rPr>
                        <a:t>Label</a:t>
                      </a:r>
                      <a:endParaRPr lang="en-IN" sz="2400" dirty="0">
                        <a:effectLst/>
                        <a:latin typeface="Verdana" panose="020B0604030504040204" pitchFamily="34" charset="0"/>
                      </a:endParaRPr>
                    </a:p>
                  </a:txBody>
                  <a:tcPr/>
                </a:tc>
                <a:tc>
                  <a:txBody>
                    <a:bodyPr/>
                    <a:lstStyle/>
                    <a:p>
                      <a:pPr marL="66675" algn="ctr">
                        <a:lnSpc>
                          <a:spcPts val="1280"/>
                        </a:lnSpc>
                      </a:pPr>
                      <a:endParaRPr lang="en-IN" sz="2400" dirty="0">
                        <a:effectLst/>
                      </a:endParaRPr>
                    </a:p>
                    <a:p>
                      <a:pPr marL="66675" algn="ctr">
                        <a:lnSpc>
                          <a:spcPts val="1280"/>
                        </a:lnSpc>
                      </a:pPr>
                      <a:r>
                        <a:rPr lang="en-IN" sz="2400" dirty="0">
                          <a:effectLst/>
                        </a:rPr>
                        <a:t>Operation</a:t>
                      </a:r>
                      <a:endParaRPr lang="en-IN" sz="2400" dirty="0">
                        <a:effectLst/>
                        <a:latin typeface="Verdana" panose="020B0604030504040204" pitchFamily="34" charset="0"/>
                      </a:endParaRPr>
                    </a:p>
                  </a:txBody>
                  <a:tcPr/>
                </a:tc>
                <a:tc>
                  <a:txBody>
                    <a:bodyPr/>
                    <a:lstStyle/>
                    <a:p>
                      <a:pPr marL="68580" algn="ctr">
                        <a:lnSpc>
                          <a:spcPts val="1280"/>
                        </a:lnSpc>
                      </a:pPr>
                      <a:endParaRPr lang="en-IN" sz="2400" dirty="0">
                        <a:effectLst/>
                      </a:endParaRPr>
                    </a:p>
                    <a:p>
                      <a:pPr marL="68580" algn="ctr">
                        <a:lnSpc>
                          <a:spcPts val="1280"/>
                        </a:lnSpc>
                      </a:pPr>
                      <a:r>
                        <a:rPr lang="en-IN" sz="2400" dirty="0">
                          <a:effectLst/>
                        </a:rPr>
                        <a:t>Operands</a:t>
                      </a:r>
                      <a:endParaRPr lang="en-IN" sz="2400" dirty="0">
                        <a:effectLst/>
                        <a:latin typeface="Verdana" panose="020B0604030504040204" pitchFamily="34" charset="0"/>
                      </a:endParaRPr>
                    </a:p>
                  </a:txBody>
                  <a:tcPr/>
                </a:tc>
                <a:extLst>
                  <a:ext uri="{0D108BD9-81ED-4DB2-BD59-A6C34878D82A}">
                    <a16:rowId xmlns:a16="http://schemas.microsoft.com/office/drawing/2014/main" val="252434981"/>
                  </a:ext>
                </a:extLst>
              </a:tr>
              <a:tr h="645287">
                <a:tc>
                  <a:txBody>
                    <a:bodyPr/>
                    <a:lstStyle/>
                    <a:p>
                      <a:pPr marL="67945" algn="ctr">
                        <a:lnSpc>
                          <a:spcPts val="1280"/>
                        </a:lnSpc>
                      </a:pPr>
                      <a:endParaRPr lang="en-IN" sz="2400" dirty="0">
                        <a:effectLst/>
                      </a:endParaRPr>
                    </a:p>
                    <a:p>
                      <a:pPr marL="67945" algn="ctr">
                        <a:lnSpc>
                          <a:spcPts val="1280"/>
                        </a:lnSpc>
                      </a:pPr>
                      <a:r>
                        <a:rPr lang="en-IN" sz="2400" dirty="0">
                          <a:effectLst/>
                        </a:rPr>
                        <a:t>Its</a:t>
                      </a:r>
                      <a:r>
                        <a:rPr lang="en-IN" sz="2400" spc="-10" dirty="0">
                          <a:effectLst/>
                        </a:rPr>
                        <a:t> </a:t>
                      </a:r>
                      <a:r>
                        <a:rPr lang="en-IN" sz="2400" dirty="0">
                          <a:effectLst/>
                        </a:rPr>
                        <a:t>optional</a:t>
                      </a:r>
                      <a:endParaRPr lang="en-IN" sz="2400" dirty="0">
                        <a:effectLst/>
                        <a:latin typeface="Verdana" panose="020B0604030504040204" pitchFamily="34" charset="0"/>
                      </a:endParaRPr>
                    </a:p>
                  </a:txBody>
                  <a:tcPr/>
                </a:tc>
                <a:tc>
                  <a:txBody>
                    <a:bodyPr/>
                    <a:lstStyle/>
                    <a:p>
                      <a:pPr marL="66675" algn="ctr">
                        <a:lnSpc>
                          <a:spcPts val="1280"/>
                        </a:lnSpc>
                      </a:pPr>
                      <a:endParaRPr lang="en-IN" sz="2400" dirty="0">
                        <a:effectLst/>
                      </a:endParaRPr>
                    </a:p>
                    <a:p>
                      <a:pPr marL="66675" algn="ctr">
                        <a:lnSpc>
                          <a:spcPts val="1280"/>
                        </a:lnSpc>
                      </a:pPr>
                      <a:r>
                        <a:rPr lang="en-IN" sz="2400" dirty="0">
                          <a:effectLst/>
                        </a:rPr>
                        <a:t>Necessary</a:t>
                      </a:r>
                      <a:endParaRPr lang="en-IN" sz="2400" dirty="0">
                        <a:effectLst/>
                        <a:latin typeface="Verdana" panose="020B0604030504040204" pitchFamily="34" charset="0"/>
                      </a:endParaRPr>
                    </a:p>
                  </a:txBody>
                  <a:tcPr/>
                </a:tc>
                <a:tc>
                  <a:txBody>
                    <a:bodyPr/>
                    <a:lstStyle/>
                    <a:p>
                      <a:pPr marL="68580" algn="ctr">
                        <a:lnSpc>
                          <a:spcPts val="1280"/>
                        </a:lnSpc>
                      </a:pPr>
                      <a:endParaRPr lang="en-IN" sz="2400" dirty="0">
                        <a:effectLst/>
                      </a:endParaRPr>
                    </a:p>
                    <a:p>
                      <a:pPr marL="68580" algn="ctr">
                        <a:lnSpc>
                          <a:spcPts val="1280"/>
                        </a:lnSpc>
                      </a:pPr>
                      <a:r>
                        <a:rPr lang="en-IN" sz="2400" dirty="0">
                          <a:effectLst/>
                        </a:rPr>
                        <a:t>Necessary</a:t>
                      </a:r>
                      <a:endParaRPr lang="en-IN" sz="2400" dirty="0">
                        <a:effectLst/>
                        <a:latin typeface="Verdana" panose="020B0604030504040204" pitchFamily="34" charset="0"/>
                      </a:endParaRPr>
                    </a:p>
                  </a:txBody>
                  <a:tcPr/>
                </a:tc>
                <a:extLst>
                  <a:ext uri="{0D108BD9-81ED-4DB2-BD59-A6C34878D82A}">
                    <a16:rowId xmlns:a16="http://schemas.microsoft.com/office/drawing/2014/main" val="2413420906"/>
                  </a:ext>
                </a:extLst>
              </a:tr>
            </a:tbl>
          </a:graphicData>
        </a:graphic>
      </p:graphicFrame>
    </p:spTree>
    <p:extLst>
      <p:ext uri="{BB962C8B-B14F-4D97-AF65-F5344CB8AC3E}">
        <p14:creationId xmlns:p14="http://schemas.microsoft.com/office/powerpoint/2010/main" val="978688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7FA83B-5A1B-C2F8-BF44-18FE5771235E}"/>
              </a:ext>
            </a:extLst>
          </p:cNvPr>
          <p:cNvPicPr>
            <a:picLocks noGrp="1" noChangeAspect="1"/>
          </p:cNvPicPr>
          <p:nvPr>
            <p:ph idx="1"/>
          </p:nvPr>
        </p:nvPicPr>
        <p:blipFill>
          <a:blip r:embed="rId2"/>
          <a:stretch>
            <a:fillRect/>
          </a:stretch>
        </p:blipFill>
        <p:spPr>
          <a:xfrm>
            <a:off x="838200" y="1690688"/>
            <a:ext cx="10227906" cy="3922375"/>
          </a:xfrm>
        </p:spPr>
      </p:pic>
    </p:spTree>
    <p:extLst>
      <p:ext uri="{BB962C8B-B14F-4D97-AF65-F5344CB8AC3E}">
        <p14:creationId xmlns:p14="http://schemas.microsoft.com/office/powerpoint/2010/main" val="3190140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6DD2-6C6B-D622-B6BF-C31B715BD22F}"/>
              </a:ext>
            </a:extLst>
          </p:cNvPr>
          <p:cNvSpPr>
            <a:spLocks noGrp="1"/>
          </p:cNvSpPr>
          <p:nvPr>
            <p:ph type="title"/>
          </p:nvPr>
        </p:nvSpPr>
        <p:spPr>
          <a:xfrm>
            <a:off x="959498" y="374456"/>
            <a:ext cx="10515600" cy="1325563"/>
          </a:xfrm>
        </p:spPr>
        <p:txBody>
          <a:bodyPr/>
          <a:lstStyle/>
          <a:p>
            <a:r>
              <a:rPr lang="en-IN" b="1" dirty="0"/>
              <a:t>Registers</a:t>
            </a:r>
          </a:p>
        </p:txBody>
      </p:sp>
      <p:sp>
        <p:nvSpPr>
          <p:cNvPr id="3" name="Content Placeholder 2">
            <a:extLst>
              <a:ext uri="{FF2B5EF4-FFF2-40B4-BE49-F238E27FC236}">
                <a16:creationId xmlns:a16="http://schemas.microsoft.com/office/drawing/2014/main" id="{27F2EE66-EBD3-63D5-4A2A-F7BBAAF535A4}"/>
              </a:ext>
            </a:extLst>
          </p:cNvPr>
          <p:cNvSpPr>
            <a:spLocks noGrp="1"/>
          </p:cNvSpPr>
          <p:nvPr>
            <p:ph idx="1"/>
          </p:nvPr>
        </p:nvSpPr>
        <p:spPr/>
        <p:txBody>
          <a:bodyPr>
            <a:normAutofit/>
          </a:bodyPr>
          <a:lstStyle/>
          <a:p>
            <a:pPr marL="0" indent="0">
              <a:buNone/>
            </a:pPr>
            <a:r>
              <a:rPr lang="en-US" dirty="0"/>
              <a:t>1. Accumulator (A) is an 8-bit register which is used to perform arithmetical and logical operation. It stores the output of any operation. It also works as registers for I/O accesses. </a:t>
            </a:r>
          </a:p>
          <a:p>
            <a:pPr marL="0" indent="0">
              <a:buNone/>
            </a:pPr>
            <a:r>
              <a:rPr lang="en-US" dirty="0"/>
              <a:t>2. General Purposes Registers are of 8-bit each named as B, C, D, E, H and L. Generally, these registers are not used for storing the data permanently. These are used only during the execution of the instructions. These registers can also be used to carry the 16 bits data by making the pair of 2 registers. The valid register pairs available are BC, DE HL. We cannot use other pairs except BC, DE and HL. </a:t>
            </a:r>
            <a:endParaRPr lang="en-IN" dirty="0"/>
          </a:p>
        </p:txBody>
      </p:sp>
    </p:spTree>
    <p:extLst>
      <p:ext uri="{BB962C8B-B14F-4D97-AF65-F5344CB8AC3E}">
        <p14:creationId xmlns:p14="http://schemas.microsoft.com/office/powerpoint/2010/main" val="2764603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FEAD3-F99E-2D2D-5592-9DC11D7BD45A}"/>
              </a:ext>
            </a:extLst>
          </p:cNvPr>
          <p:cNvSpPr>
            <a:spLocks noGrp="1"/>
          </p:cNvSpPr>
          <p:nvPr>
            <p:ph idx="1"/>
          </p:nvPr>
        </p:nvSpPr>
        <p:spPr>
          <a:xfrm>
            <a:off x="838200" y="429208"/>
            <a:ext cx="10515600" cy="5747755"/>
          </a:xfrm>
        </p:spPr>
        <p:txBody>
          <a:bodyPr>
            <a:normAutofit fontScale="92500" lnSpcReduction="10000"/>
          </a:bodyPr>
          <a:lstStyle/>
          <a:p>
            <a:pPr marL="0" indent="0">
              <a:buNone/>
            </a:pPr>
            <a:r>
              <a:rPr lang="en-US" b="1" dirty="0"/>
              <a:t>3. Flag Registers </a:t>
            </a:r>
            <a:r>
              <a:rPr lang="en-US" dirty="0"/>
              <a:t>consist of 5 flip-flops which changes its status according to the result stored in an accumulator. It is also known as status registers. It is connected to the ALU. </a:t>
            </a:r>
          </a:p>
          <a:p>
            <a:pPr marL="0" indent="0">
              <a:buNone/>
            </a:pPr>
            <a:r>
              <a:rPr lang="en-US" dirty="0"/>
              <a:t>There are five flip-flops in the flag register are as follows: </a:t>
            </a:r>
          </a:p>
          <a:p>
            <a:pPr marL="571500" indent="-571500">
              <a:buAutoNum type="romanLcPeriod"/>
            </a:pPr>
            <a:r>
              <a:rPr lang="en-US" dirty="0"/>
              <a:t>Sign: If D7 of the result is 1 then sign flag is set otherwise reset. As we know that a number on the D7 always decides the sign of the number. If D7 is 1: the number is negative. If D7 is 0: the number is positive. </a:t>
            </a:r>
          </a:p>
          <a:p>
            <a:pPr marL="571500" indent="-571500">
              <a:buAutoNum type="romanLcPeriod"/>
            </a:pPr>
            <a:r>
              <a:rPr lang="en-US" dirty="0"/>
              <a:t> Zeros (Z): If the result stored in an accumulator is zero then this is set otherwise it is reset.</a:t>
            </a:r>
          </a:p>
          <a:p>
            <a:pPr marL="571500" indent="-571500">
              <a:buAutoNum type="romanLcPeriod"/>
            </a:pPr>
            <a:r>
              <a:rPr lang="en-US" dirty="0"/>
              <a:t>  Auxiliary carry (AC): If any carry goes from D3 to D4 in the output then it is set otherwise it is reset. </a:t>
            </a:r>
          </a:p>
          <a:p>
            <a:pPr marL="571500" indent="-571500">
              <a:buAutoNum type="romanLcPeriod"/>
            </a:pPr>
            <a:r>
              <a:rPr lang="en-US" dirty="0"/>
              <a:t> Parity (P): If the no of 1's is even in the output stored in the accumulator then it is set otherwise it is reset for the odd.</a:t>
            </a:r>
          </a:p>
          <a:p>
            <a:pPr marL="571500" indent="-571500">
              <a:buAutoNum type="romanLcPeriod"/>
            </a:pPr>
            <a:r>
              <a:rPr lang="en-US" dirty="0"/>
              <a:t>  Carry(C): If the result stored in an accumulator generates a carry in its final output then it is set otherwise it is reset. </a:t>
            </a:r>
            <a:endParaRPr lang="en-IN" dirty="0"/>
          </a:p>
        </p:txBody>
      </p:sp>
    </p:spTree>
    <p:extLst>
      <p:ext uri="{BB962C8B-B14F-4D97-AF65-F5344CB8AC3E}">
        <p14:creationId xmlns:p14="http://schemas.microsoft.com/office/powerpoint/2010/main" val="306143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EE6BBA-808C-EC53-027E-F4C843D883EC}"/>
              </a:ext>
            </a:extLst>
          </p:cNvPr>
          <p:cNvSpPr>
            <a:spLocks noGrp="1"/>
          </p:cNvSpPr>
          <p:nvPr>
            <p:ph idx="1"/>
          </p:nvPr>
        </p:nvSpPr>
        <p:spPr/>
        <p:txBody>
          <a:bodyPr/>
          <a:lstStyle/>
          <a:p>
            <a:pPr marL="0" indent="0">
              <a:buNone/>
            </a:pPr>
            <a:r>
              <a:rPr lang="en-US" dirty="0"/>
              <a:t>4. Program Counter is a 16 bit register used as memory pointer. It stores the memory address of the next instruction to be executed. So we can say that this register is used to sequencing the program. Generally the memory has 16 bit addresses so that it has 16 bit memory. The program counter is set to 0000H. </a:t>
            </a:r>
          </a:p>
          <a:p>
            <a:pPr marL="0" indent="0">
              <a:buNone/>
            </a:pPr>
            <a:r>
              <a:rPr lang="en-US" dirty="0"/>
              <a:t>5. Stack Pointer is also a 16 bit register used as memory pointer. It points to the memory location called stack. Generally stack is a reserved portion of memory where information can be stores or taken back together.</a:t>
            </a:r>
            <a:endParaRPr lang="en-IN" dirty="0"/>
          </a:p>
        </p:txBody>
      </p:sp>
    </p:spTree>
    <p:extLst>
      <p:ext uri="{BB962C8B-B14F-4D97-AF65-F5344CB8AC3E}">
        <p14:creationId xmlns:p14="http://schemas.microsoft.com/office/powerpoint/2010/main" val="122027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2FBF-D425-4846-2D09-237A2DB7759F}"/>
              </a:ext>
            </a:extLst>
          </p:cNvPr>
          <p:cNvSpPr>
            <a:spLocks noGrp="1"/>
          </p:cNvSpPr>
          <p:nvPr>
            <p:ph type="title"/>
          </p:nvPr>
        </p:nvSpPr>
        <p:spPr/>
        <p:txBody>
          <a:bodyPr/>
          <a:lstStyle/>
          <a:p>
            <a:r>
              <a:rPr lang="en-IN" dirty="0"/>
              <a:t>Instructions</a:t>
            </a:r>
          </a:p>
        </p:txBody>
      </p:sp>
      <p:sp>
        <p:nvSpPr>
          <p:cNvPr id="3" name="Content Placeholder 2">
            <a:extLst>
              <a:ext uri="{FF2B5EF4-FFF2-40B4-BE49-F238E27FC236}">
                <a16:creationId xmlns:a16="http://schemas.microsoft.com/office/drawing/2014/main" id="{EE625B90-69F1-3318-A64D-CABE1B297BCB}"/>
              </a:ext>
            </a:extLst>
          </p:cNvPr>
          <p:cNvSpPr>
            <a:spLocks noGrp="1"/>
          </p:cNvSpPr>
          <p:nvPr>
            <p:ph idx="1"/>
          </p:nvPr>
        </p:nvSpPr>
        <p:spPr>
          <a:xfrm>
            <a:off x="838200" y="1268963"/>
            <a:ext cx="10515600" cy="4908000"/>
          </a:xfrm>
        </p:spPr>
        <p:txBody>
          <a:bodyPr>
            <a:normAutofit lnSpcReduction="10000"/>
          </a:bodyPr>
          <a:lstStyle/>
          <a:p>
            <a:r>
              <a:rPr lang="en-IN" b="0" i="0" dirty="0">
                <a:solidFill>
                  <a:srgbClr val="610B4B"/>
                </a:solidFill>
                <a:effectLst/>
                <a:latin typeface="erdana"/>
              </a:rPr>
              <a:t>Data Transfer Group: </a:t>
            </a:r>
            <a:r>
              <a:rPr lang="en-US" b="0" i="0" dirty="0">
                <a:solidFill>
                  <a:srgbClr val="333333"/>
                </a:solidFill>
                <a:effectLst/>
                <a:latin typeface="inter-regular"/>
              </a:rPr>
              <a:t>Instructions which are used to transfer the data from a register to another register from memory to register or register to memory come under this group</a:t>
            </a:r>
            <a:endParaRPr lang="en-IN" b="0" i="0" dirty="0">
              <a:solidFill>
                <a:srgbClr val="610B4B"/>
              </a:solidFill>
              <a:effectLst/>
              <a:latin typeface="erdana"/>
            </a:endParaRPr>
          </a:p>
          <a:p>
            <a:r>
              <a:rPr lang="en-IN" b="0" i="0" dirty="0">
                <a:solidFill>
                  <a:srgbClr val="610B4B"/>
                </a:solidFill>
                <a:effectLst/>
                <a:latin typeface="erdana"/>
              </a:rPr>
              <a:t>Arithmetic Group: T</a:t>
            </a:r>
            <a:r>
              <a:rPr lang="en-US" b="0" i="0" dirty="0">
                <a:solidFill>
                  <a:srgbClr val="333333"/>
                </a:solidFill>
                <a:effectLst/>
                <a:latin typeface="inter-regular"/>
              </a:rPr>
              <a:t>he instructions of this group perform arithmetic operations such as addition, subtraction, increment or decrement of the content of a register or a memory.</a:t>
            </a:r>
            <a:endParaRPr lang="en-IN" b="0" i="0" dirty="0">
              <a:solidFill>
                <a:srgbClr val="610B4B"/>
              </a:solidFill>
              <a:effectLst/>
              <a:latin typeface="erdana"/>
            </a:endParaRPr>
          </a:p>
          <a:p>
            <a:r>
              <a:rPr lang="en-IN" b="0" i="0" dirty="0">
                <a:solidFill>
                  <a:srgbClr val="610B4B"/>
                </a:solidFill>
                <a:effectLst/>
                <a:latin typeface="erdana"/>
              </a:rPr>
              <a:t>Logical Group: </a:t>
            </a:r>
            <a:r>
              <a:rPr lang="en-US" b="0" i="0" dirty="0">
                <a:solidFill>
                  <a:srgbClr val="333333"/>
                </a:solidFill>
                <a:effectLst/>
                <a:latin typeface="inter-regular"/>
              </a:rPr>
              <a:t>The instructions in this group perform logical operation such as AND, OR, compare, rotate, </a:t>
            </a:r>
            <a:r>
              <a:rPr lang="en-US" b="0" i="0" dirty="0" err="1">
                <a:solidFill>
                  <a:srgbClr val="333333"/>
                </a:solidFill>
                <a:effectLst/>
                <a:latin typeface="inter-regular"/>
              </a:rPr>
              <a:t>etc</a:t>
            </a:r>
            <a:endParaRPr lang="en-IN" b="0" i="0" dirty="0">
              <a:solidFill>
                <a:srgbClr val="610B4B"/>
              </a:solidFill>
              <a:effectLst/>
              <a:latin typeface="erdana"/>
            </a:endParaRPr>
          </a:p>
          <a:p>
            <a:r>
              <a:rPr lang="en-IN" b="0" i="0" dirty="0">
                <a:solidFill>
                  <a:srgbClr val="610B4B"/>
                </a:solidFill>
                <a:effectLst/>
                <a:latin typeface="erdana"/>
              </a:rPr>
              <a:t>Branch Control Group: </a:t>
            </a:r>
            <a:r>
              <a:rPr lang="en-US" b="0" i="0" dirty="0">
                <a:solidFill>
                  <a:srgbClr val="333333"/>
                </a:solidFill>
                <a:effectLst/>
                <a:latin typeface="inter-regular"/>
              </a:rPr>
              <a:t>group contains the instructions for conditional and unconditional jump, subroutine call and return, and restart.</a:t>
            </a:r>
            <a:endParaRPr lang="en-IN" b="0" i="0" dirty="0">
              <a:solidFill>
                <a:srgbClr val="610B4B"/>
              </a:solidFill>
              <a:effectLst/>
              <a:latin typeface="erdana"/>
            </a:endParaRPr>
          </a:p>
          <a:p>
            <a:r>
              <a:rPr lang="en-US" b="0" i="0" dirty="0">
                <a:solidFill>
                  <a:srgbClr val="610B4B"/>
                </a:solidFill>
                <a:effectLst/>
                <a:latin typeface="erdana"/>
              </a:rPr>
              <a:t>Stack, I/O and Machine Control Group: T</a:t>
            </a:r>
            <a:r>
              <a:rPr lang="en-US" b="0" i="0" dirty="0">
                <a:solidFill>
                  <a:srgbClr val="333333"/>
                </a:solidFill>
                <a:effectLst/>
                <a:latin typeface="inter-regular"/>
              </a:rPr>
              <a:t>his group contains the instructions for input/output ports, stack and machine control.</a:t>
            </a:r>
            <a:endParaRPr lang="en-US" b="0" i="0" dirty="0">
              <a:solidFill>
                <a:srgbClr val="610B4B"/>
              </a:solidFill>
              <a:effectLst/>
              <a:latin typeface="erdana"/>
            </a:endParaRPr>
          </a:p>
          <a:p>
            <a:endParaRPr lang="en-IN" dirty="0"/>
          </a:p>
        </p:txBody>
      </p:sp>
    </p:spTree>
    <p:extLst>
      <p:ext uri="{BB962C8B-B14F-4D97-AF65-F5344CB8AC3E}">
        <p14:creationId xmlns:p14="http://schemas.microsoft.com/office/powerpoint/2010/main" val="2994746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A18A2-2B87-9B7A-8D19-86EBFD072FCB}"/>
              </a:ext>
            </a:extLst>
          </p:cNvPr>
          <p:cNvSpPr>
            <a:spLocks noGrp="1"/>
          </p:cNvSpPr>
          <p:nvPr>
            <p:ph type="title"/>
          </p:nvPr>
        </p:nvSpPr>
        <p:spPr/>
        <p:txBody>
          <a:bodyPr/>
          <a:lstStyle/>
          <a:p>
            <a:r>
              <a:rPr lang="en-IN" dirty="0"/>
              <a:t>Data transfer instructions</a:t>
            </a:r>
          </a:p>
        </p:txBody>
      </p:sp>
      <p:graphicFrame>
        <p:nvGraphicFramePr>
          <p:cNvPr id="4" name="Content Placeholder 3">
            <a:extLst>
              <a:ext uri="{FF2B5EF4-FFF2-40B4-BE49-F238E27FC236}">
                <a16:creationId xmlns:a16="http://schemas.microsoft.com/office/drawing/2014/main" id="{6A30BB25-4E08-1B30-57DB-CD28E8E91B44}"/>
              </a:ext>
            </a:extLst>
          </p:cNvPr>
          <p:cNvGraphicFramePr>
            <a:graphicFrameLocks noGrp="1"/>
          </p:cNvGraphicFramePr>
          <p:nvPr>
            <p:ph idx="1"/>
            <p:extLst>
              <p:ext uri="{D42A27DB-BD31-4B8C-83A1-F6EECF244321}">
                <p14:modId xmlns:p14="http://schemas.microsoft.com/office/powerpoint/2010/main" val="2335664143"/>
              </p:ext>
            </p:extLst>
          </p:nvPr>
        </p:nvGraphicFramePr>
        <p:xfrm>
          <a:off x="503853" y="1690687"/>
          <a:ext cx="9507894" cy="4669063"/>
        </p:xfrm>
        <a:graphic>
          <a:graphicData uri="http://schemas.openxmlformats.org/drawingml/2006/table">
            <a:tbl>
              <a:tblPr/>
              <a:tblGrid>
                <a:gridCol w="2333477">
                  <a:extLst>
                    <a:ext uri="{9D8B030D-6E8A-4147-A177-3AD203B41FA5}">
                      <a16:colId xmlns:a16="http://schemas.microsoft.com/office/drawing/2014/main" val="2370206586"/>
                    </a:ext>
                  </a:extLst>
                </a:gridCol>
                <a:gridCol w="4972785">
                  <a:extLst>
                    <a:ext uri="{9D8B030D-6E8A-4147-A177-3AD203B41FA5}">
                      <a16:colId xmlns:a16="http://schemas.microsoft.com/office/drawing/2014/main" val="1786012037"/>
                    </a:ext>
                  </a:extLst>
                </a:gridCol>
                <a:gridCol w="973879">
                  <a:extLst>
                    <a:ext uri="{9D8B030D-6E8A-4147-A177-3AD203B41FA5}">
                      <a16:colId xmlns:a16="http://schemas.microsoft.com/office/drawing/2014/main" val="388447070"/>
                    </a:ext>
                  </a:extLst>
                </a:gridCol>
                <a:gridCol w="1227753">
                  <a:extLst>
                    <a:ext uri="{9D8B030D-6E8A-4147-A177-3AD203B41FA5}">
                      <a16:colId xmlns:a16="http://schemas.microsoft.com/office/drawing/2014/main" val="2075356834"/>
                    </a:ext>
                  </a:extLst>
                </a:gridCol>
              </a:tblGrid>
              <a:tr h="544162">
                <a:tc>
                  <a:txBody>
                    <a:bodyPr/>
                    <a:lstStyle/>
                    <a:p>
                      <a:pPr algn="l" fontAlgn="t"/>
                      <a:r>
                        <a:rPr lang="en-IN" sz="1600" dirty="0">
                          <a:solidFill>
                            <a:srgbClr val="000000"/>
                          </a:solidFill>
                          <a:effectLst/>
                          <a:latin typeface="times new roman" panose="02020603050405020304" pitchFamily="18" charset="0"/>
                        </a:rPr>
                        <a:t>Instruction</a:t>
                      </a:r>
                    </a:p>
                  </a:txBody>
                  <a:tcPr marL="28013" marR="28013" marT="28013" marB="28013">
                    <a:lnL w="7620" cap="flat" cmpd="sng" algn="ctr">
                      <a:solidFill>
                        <a:srgbClr val="605C0C"/>
                      </a:solidFill>
                      <a:prstDash val="solid"/>
                      <a:round/>
                      <a:headEnd type="none" w="med" len="med"/>
                      <a:tailEnd type="none" w="med" len="med"/>
                    </a:lnL>
                    <a:lnR w="7620" cap="flat" cmpd="sng" algn="ctr">
                      <a:solidFill>
                        <a:srgbClr val="605C0C"/>
                      </a:solidFill>
                      <a:prstDash val="solid"/>
                      <a:round/>
                      <a:headEnd type="none" w="med" len="med"/>
                      <a:tailEnd type="none" w="med" len="med"/>
                    </a:lnR>
                    <a:lnT w="7620" cap="flat" cmpd="sng" algn="ctr">
                      <a:solidFill>
                        <a:srgbClr val="605C0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dirty="0">
                          <a:solidFill>
                            <a:srgbClr val="000000"/>
                          </a:solidFill>
                          <a:effectLst/>
                          <a:latin typeface="times new roman" panose="02020603050405020304" pitchFamily="18" charset="0"/>
                        </a:rPr>
                        <a:t>Explanation</a:t>
                      </a:r>
                    </a:p>
                  </a:txBody>
                  <a:tcPr marL="28013" marR="28013" marT="28013" marB="28013">
                    <a:lnL w="7620" cap="flat" cmpd="sng" algn="ctr">
                      <a:solidFill>
                        <a:srgbClr val="605C0C"/>
                      </a:solidFill>
                      <a:prstDash val="solid"/>
                      <a:round/>
                      <a:headEnd type="none" w="med" len="med"/>
                      <a:tailEnd type="none" w="med" len="med"/>
                    </a:lnL>
                    <a:lnR w="7620" cap="flat" cmpd="sng" algn="ctr">
                      <a:solidFill>
                        <a:srgbClr val="605C0C"/>
                      </a:solidFill>
                      <a:prstDash val="solid"/>
                      <a:round/>
                      <a:headEnd type="none" w="med" len="med"/>
                      <a:tailEnd type="none" w="med" len="med"/>
                    </a:lnR>
                    <a:lnT w="7620" cap="flat" cmpd="sng" algn="ctr">
                      <a:solidFill>
                        <a:srgbClr val="605C0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dirty="0">
                          <a:solidFill>
                            <a:srgbClr val="000000"/>
                          </a:solidFill>
                          <a:effectLst/>
                          <a:latin typeface="times new roman" panose="02020603050405020304" pitchFamily="18" charset="0"/>
                        </a:rPr>
                        <a:t>Machine Cycles</a:t>
                      </a:r>
                    </a:p>
                  </a:txBody>
                  <a:tcPr marL="28013" marR="28013" marT="28013" marB="28013">
                    <a:lnL w="7620" cap="flat" cmpd="sng" algn="ctr">
                      <a:solidFill>
                        <a:srgbClr val="605C0C"/>
                      </a:solidFill>
                      <a:prstDash val="solid"/>
                      <a:round/>
                      <a:headEnd type="none" w="med" len="med"/>
                      <a:tailEnd type="none" w="med" len="med"/>
                    </a:lnL>
                    <a:lnR w="7620" cap="flat" cmpd="sng" algn="ctr">
                      <a:solidFill>
                        <a:srgbClr val="605C0C"/>
                      </a:solidFill>
                      <a:prstDash val="solid"/>
                      <a:round/>
                      <a:headEnd type="none" w="med" len="med"/>
                      <a:tailEnd type="none" w="med" len="med"/>
                    </a:lnR>
                    <a:lnT w="7620" cap="flat" cmpd="sng" algn="ctr">
                      <a:solidFill>
                        <a:srgbClr val="605C0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dirty="0">
                          <a:solidFill>
                            <a:srgbClr val="000000"/>
                          </a:solidFill>
                          <a:effectLst/>
                          <a:latin typeface="times new roman" panose="02020603050405020304" pitchFamily="18" charset="0"/>
                        </a:rPr>
                        <a:t>Example</a:t>
                      </a:r>
                    </a:p>
                  </a:txBody>
                  <a:tcPr marL="28013" marR="28013" marT="28013" marB="28013">
                    <a:lnL w="7620" cap="flat" cmpd="sng" algn="ctr">
                      <a:solidFill>
                        <a:srgbClr val="605C0C"/>
                      </a:solidFill>
                      <a:prstDash val="solid"/>
                      <a:round/>
                      <a:headEnd type="none" w="med" len="med"/>
                      <a:tailEnd type="none" w="med" len="med"/>
                    </a:lnL>
                    <a:lnR w="7620" cap="flat" cmpd="sng" algn="ctr">
                      <a:solidFill>
                        <a:srgbClr val="605C0C"/>
                      </a:solidFill>
                      <a:prstDash val="solid"/>
                      <a:round/>
                      <a:headEnd type="none" w="med" len="med"/>
                      <a:tailEnd type="none" w="med" len="med"/>
                    </a:lnR>
                    <a:lnT w="7620" cap="flat" cmpd="sng" algn="ctr">
                      <a:solidFill>
                        <a:srgbClr val="605C0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90987645"/>
                  </a:ext>
                </a:extLst>
              </a:tr>
              <a:tr h="531258">
                <a:tc>
                  <a:txBody>
                    <a:bodyPr/>
                    <a:lstStyle/>
                    <a:p>
                      <a:pPr algn="just" fontAlgn="t"/>
                      <a:r>
                        <a:rPr lang="pt-BR" sz="1600" dirty="0">
                          <a:solidFill>
                            <a:srgbClr val="333333"/>
                          </a:solidFill>
                          <a:effectLst/>
                          <a:latin typeface="inter-regular"/>
                        </a:rPr>
                        <a:t>MOV r</a:t>
                      </a:r>
                      <a:r>
                        <a:rPr lang="pt-BR" sz="1600" baseline="-25000" dirty="0">
                          <a:solidFill>
                            <a:srgbClr val="333333"/>
                          </a:solidFill>
                          <a:effectLst/>
                          <a:latin typeface="inter-regular"/>
                        </a:rPr>
                        <a:t>1</a:t>
                      </a:r>
                      <a:r>
                        <a:rPr lang="pt-BR" sz="1600" dirty="0">
                          <a:solidFill>
                            <a:srgbClr val="333333"/>
                          </a:solidFill>
                          <a:effectLst/>
                          <a:latin typeface="inter-regular"/>
                        </a:rPr>
                        <a:t>, r</a:t>
                      </a:r>
                      <a:r>
                        <a:rPr lang="pt-BR" sz="1600" baseline="-25000" dirty="0">
                          <a:solidFill>
                            <a:srgbClr val="333333"/>
                          </a:solidFill>
                          <a:effectLst/>
                          <a:latin typeface="inter-regular"/>
                        </a:rPr>
                        <a:t>2</a:t>
                      </a:r>
                      <a:br>
                        <a:rPr lang="pt-BR" sz="1600" dirty="0">
                          <a:solidFill>
                            <a:srgbClr val="333333"/>
                          </a:solidFill>
                          <a:effectLst/>
                          <a:latin typeface="inter-regular"/>
                        </a:rPr>
                      </a:br>
                      <a:r>
                        <a:rPr lang="pt-BR" sz="1600" dirty="0">
                          <a:solidFill>
                            <a:srgbClr val="333333"/>
                          </a:solidFill>
                          <a:effectLst/>
                          <a:latin typeface="inter-regular"/>
                        </a:rPr>
                        <a:t>[r1] ← [r2]</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Move the content of the one register to another</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1</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MOV A, B</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76721056"/>
                  </a:ext>
                </a:extLst>
              </a:tr>
              <a:tr h="531258">
                <a:tc>
                  <a:txBody>
                    <a:bodyPr/>
                    <a:lstStyle/>
                    <a:p>
                      <a:pPr algn="just" fontAlgn="t"/>
                      <a:r>
                        <a:rPr lang="pt-BR" sz="1600">
                          <a:solidFill>
                            <a:srgbClr val="333333"/>
                          </a:solidFill>
                          <a:effectLst/>
                          <a:latin typeface="inter-regular"/>
                        </a:rPr>
                        <a:t>MOV r, M</a:t>
                      </a:r>
                      <a:br>
                        <a:rPr lang="pt-BR" sz="1600">
                          <a:solidFill>
                            <a:srgbClr val="333333"/>
                          </a:solidFill>
                          <a:effectLst/>
                          <a:latin typeface="inter-regular"/>
                        </a:rPr>
                      </a:br>
                      <a:r>
                        <a:rPr lang="pt-BR" sz="1600">
                          <a:solidFill>
                            <a:srgbClr val="333333"/>
                          </a:solidFill>
                          <a:effectLst/>
                          <a:latin typeface="inter-regular"/>
                        </a:rPr>
                        <a:t>[r]←[[H-L]]</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Move the content of memory to register</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dirty="0">
                          <a:solidFill>
                            <a:srgbClr val="333333"/>
                          </a:solidFill>
                          <a:effectLst/>
                          <a:latin typeface="inter-regular"/>
                        </a:rPr>
                        <a:t>2</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MOV B, M</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34142568"/>
                  </a:ext>
                </a:extLst>
              </a:tr>
              <a:tr h="699741">
                <a:tc>
                  <a:txBody>
                    <a:bodyPr/>
                    <a:lstStyle/>
                    <a:p>
                      <a:pPr algn="just" fontAlgn="t"/>
                      <a:r>
                        <a:rPr lang="pt-BR" sz="1600">
                          <a:solidFill>
                            <a:srgbClr val="333333"/>
                          </a:solidFill>
                          <a:effectLst/>
                          <a:latin typeface="inter-regular"/>
                        </a:rPr>
                        <a:t>MOV M, r</a:t>
                      </a:r>
                      <a:br>
                        <a:rPr lang="pt-BR" sz="1600">
                          <a:solidFill>
                            <a:srgbClr val="333333"/>
                          </a:solidFill>
                          <a:effectLst/>
                          <a:latin typeface="inter-regular"/>
                        </a:rPr>
                      </a:br>
                      <a:r>
                        <a:rPr lang="pt-BR" sz="1600">
                          <a:solidFill>
                            <a:srgbClr val="333333"/>
                          </a:solidFill>
                          <a:effectLst/>
                          <a:latin typeface="inter-regular"/>
                        </a:rPr>
                        <a:t>[[H-L]]←[r]</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Move the content of register to memory</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2</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MOV M, C</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04438205"/>
                  </a:ext>
                </a:extLst>
              </a:tr>
              <a:tr h="531258">
                <a:tc>
                  <a:txBody>
                    <a:bodyPr/>
                    <a:lstStyle/>
                    <a:p>
                      <a:pPr algn="just" fontAlgn="t"/>
                      <a:r>
                        <a:rPr lang="pt-BR" sz="1600">
                          <a:solidFill>
                            <a:srgbClr val="333333"/>
                          </a:solidFill>
                          <a:effectLst/>
                          <a:latin typeface="inter-regular"/>
                        </a:rPr>
                        <a:t>MVI r, data</a:t>
                      </a:r>
                      <a:br>
                        <a:rPr lang="pt-BR" sz="1600">
                          <a:solidFill>
                            <a:srgbClr val="333333"/>
                          </a:solidFill>
                          <a:effectLst/>
                          <a:latin typeface="inter-regular"/>
                        </a:rPr>
                      </a:br>
                      <a:r>
                        <a:rPr lang="pt-BR" sz="1600">
                          <a:solidFill>
                            <a:srgbClr val="333333"/>
                          </a:solidFill>
                          <a:effectLst/>
                          <a:latin typeface="inter-regular"/>
                        </a:rPr>
                        <a:t>[r] ←data</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Move immediate data to register</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dirty="0">
                          <a:solidFill>
                            <a:srgbClr val="333333"/>
                          </a:solidFill>
                          <a:effectLst/>
                          <a:latin typeface="inter-regular"/>
                        </a:rPr>
                        <a:t>3</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MVI M, 08</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79316650"/>
                  </a:ext>
                </a:extLst>
              </a:tr>
              <a:tr h="716616">
                <a:tc>
                  <a:txBody>
                    <a:bodyPr/>
                    <a:lstStyle/>
                    <a:p>
                      <a:pPr algn="just" fontAlgn="t"/>
                      <a:r>
                        <a:rPr lang="en-IN" sz="1600">
                          <a:solidFill>
                            <a:srgbClr val="333333"/>
                          </a:solidFill>
                          <a:effectLst/>
                          <a:latin typeface="inter-regular"/>
                        </a:rPr>
                        <a:t>LXI rp, data 16</a:t>
                      </a:r>
                      <a:br>
                        <a:rPr lang="en-IN" sz="1600">
                          <a:solidFill>
                            <a:srgbClr val="333333"/>
                          </a:solidFill>
                          <a:effectLst/>
                          <a:latin typeface="inter-regular"/>
                        </a:rPr>
                      </a:br>
                      <a:r>
                        <a:rPr lang="en-IN" sz="1600">
                          <a:solidFill>
                            <a:srgbClr val="333333"/>
                          </a:solidFill>
                          <a:effectLst/>
                          <a:latin typeface="inter-regular"/>
                        </a:rPr>
                        <a:t>[rp] ←data 16 bits, [rh] ←8 MSBs, [rl] ←8 LSBs of data</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Load Register pair immediate</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3</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LXI H, 2500</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13684617"/>
                  </a:ext>
                </a:extLst>
              </a:tr>
              <a:tr h="531258">
                <a:tc>
                  <a:txBody>
                    <a:bodyPr/>
                    <a:lstStyle/>
                    <a:p>
                      <a:pPr algn="just" fontAlgn="t"/>
                      <a:r>
                        <a:rPr lang="en-IN" sz="1600">
                          <a:solidFill>
                            <a:srgbClr val="333333"/>
                          </a:solidFill>
                          <a:effectLst/>
                          <a:latin typeface="inter-regular"/>
                        </a:rPr>
                        <a:t>LDA addr</a:t>
                      </a:r>
                      <a:br>
                        <a:rPr lang="en-IN" sz="1600">
                          <a:solidFill>
                            <a:srgbClr val="333333"/>
                          </a:solidFill>
                          <a:effectLst/>
                          <a:latin typeface="inter-regular"/>
                        </a:rPr>
                      </a:br>
                      <a:r>
                        <a:rPr lang="en-IN" sz="1600">
                          <a:solidFill>
                            <a:srgbClr val="333333"/>
                          </a:solidFill>
                          <a:effectLst/>
                          <a:latin typeface="inter-regular"/>
                        </a:rPr>
                        <a:t>[A] ←[addr]</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Load Accumulator direct</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dirty="0">
                          <a:solidFill>
                            <a:srgbClr val="333333"/>
                          </a:solidFill>
                          <a:effectLst/>
                          <a:latin typeface="inter-regular"/>
                        </a:rPr>
                        <a:t>4</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dirty="0">
                          <a:solidFill>
                            <a:srgbClr val="333333"/>
                          </a:solidFill>
                          <a:effectLst/>
                          <a:latin typeface="inter-regular"/>
                        </a:rPr>
                        <a:t>LDA 2400 </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37405228"/>
                  </a:ext>
                </a:extLst>
              </a:tr>
              <a:tr h="531258">
                <a:tc>
                  <a:txBody>
                    <a:bodyPr/>
                    <a:lstStyle/>
                    <a:p>
                      <a:pPr algn="just" fontAlgn="t"/>
                      <a:r>
                        <a:rPr lang="en-IN" sz="1600">
                          <a:solidFill>
                            <a:srgbClr val="333333"/>
                          </a:solidFill>
                          <a:effectLst/>
                          <a:latin typeface="inter-regular"/>
                        </a:rPr>
                        <a:t>STA Addr</a:t>
                      </a:r>
                      <a:br>
                        <a:rPr lang="en-IN" sz="1600">
                          <a:solidFill>
                            <a:srgbClr val="333333"/>
                          </a:solidFill>
                          <a:effectLst/>
                          <a:latin typeface="inter-regular"/>
                        </a:rPr>
                      </a:br>
                      <a:r>
                        <a:rPr lang="en-IN" sz="1600">
                          <a:solidFill>
                            <a:srgbClr val="333333"/>
                          </a:solidFill>
                          <a:effectLst/>
                          <a:latin typeface="inter-regular"/>
                        </a:rPr>
                        <a:t>[addr] ←[A]</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Store accumulator direct</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4</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dirty="0">
                          <a:solidFill>
                            <a:srgbClr val="333333"/>
                          </a:solidFill>
                          <a:effectLst/>
                          <a:latin typeface="inter-regular"/>
                        </a:rPr>
                        <a:t>STA 2000</a:t>
                      </a:r>
                    </a:p>
                  </a:txBody>
                  <a:tcPr marL="18675" marR="18675" marT="18675" marB="1867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237544756"/>
                  </a:ext>
                </a:extLst>
              </a:tr>
            </a:tbl>
          </a:graphicData>
        </a:graphic>
      </p:graphicFrame>
    </p:spTree>
    <p:extLst>
      <p:ext uri="{BB962C8B-B14F-4D97-AF65-F5344CB8AC3E}">
        <p14:creationId xmlns:p14="http://schemas.microsoft.com/office/powerpoint/2010/main" val="37021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90725-3E53-9787-A9D1-753619258D23}"/>
              </a:ext>
            </a:extLst>
          </p:cNvPr>
          <p:cNvSpPr>
            <a:spLocks noGrp="1"/>
          </p:cNvSpPr>
          <p:nvPr>
            <p:ph type="title"/>
          </p:nvPr>
        </p:nvSpPr>
        <p:spPr/>
        <p:txBody>
          <a:bodyPr/>
          <a:lstStyle/>
          <a:p>
            <a:r>
              <a:rPr lang="en-IN" dirty="0"/>
              <a:t>Arithmetic group</a:t>
            </a:r>
          </a:p>
        </p:txBody>
      </p:sp>
      <p:graphicFrame>
        <p:nvGraphicFramePr>
          <p:cNvPr id="4" name="Content Placeholder 3">
            <a:extLst>
              <a:ext uri="{FF2B5EF4-FFF2-40B4-BE49-F238E27FC236}">
                <a16:creationId xmlns:a16="http://schemas.microsoft.com/office/drawing/2014/main" id="{60F534F4-9558-01C6-4874-4AEE3E1C68EE}"/>
              </a:ext>
            </a:extLst>
          </p:cNvPr>
          <p:cNvGraphicFramePr>
            <a:graphicFrameLocks noGrp="1"/>
          </p:cNvGraphicFramePr>
          <p:nvPr>
            <p:ph idx="1"/>
            <p:extLst>
              <p:ext uri="{D42A27DB-BD31-4B8C-83A1-F6EECF244321}">
                <p14:modId xmlns:p14="http://schemas.microsoft.com/office/powerpoint/2010/main" val="58622332"/>
              </p:ext>
            </p:extLst>
          </p:nvPr>
        </p:nvGraphicFramePr>
        <p:xfrm>
          <a:off x="735564" y="1361025"/>
          <a:ext cx="7949682" cy="1615440"/>
        </p:xfrm>
        <a:graphic>
          <a:graphicData uri="http://schemas.openxmlformats.org/drawingml/2006/table">
            <a:tbl>
              <a:tblPr/>
              <a:tblGrid>
                <a:gridCol w="1699726">
                  <a:extLst>
                    <a:ext uri="{9D8B030D-6E8A-4147-A177-3AD203B41FA5}">
                      <a16:colId xmlns:a16="http://schemas.microsoft.com/office/drawing/2014/main" val="3804932732"/>
                    </a:ext>
                  </a:extLst>
                </a:gridCol>
                <a:gridCol w="1632857">
                  <a:extLst>
                    <a:ext uri="{9D8B030D-6E8A-4147-A177-3AD203B41FA5}">
                      <a16:colId xmlns:a16="http://schemas.microsoft.com/office/drawing/2014/main" val="4029491117"/>
                    </a:ext>
                  </a:extLst>
                </a:gridCol>
                <a:gridCol w="1502229">
                  <a:extLst>
                    <a:ext uri="{9D8B030D-6E8A-4147-A177-3AD203B41FA5}">
                      <a16:colId xmlns:a16="http://schemas.microsoft.com/office/drawing/2014/main" val="1878794219"/>
                    </a:ext>
                  </a:extLst>
                </a:gridCol>
                <a:gridCol w="1464906">
                  <a:extLst>
                    <a:ext uri="{9D8B030D-6E8A-4147-A177-3AD203B41FA5}">
                      <a16:colId xmlns:a16="http://schemas.microsoft.com/office/drawing/2014/main" val="2012336737"/>
                    </a:ext>
                  </a:extLst>
                </a:gridCol>
                <a:gridCol w="1649964">
                  <a:extLst>
                    <a:ext uri="{9D8B030D-6E8A-4147-A177-3AD203B41FA5}">
                      <a16:colId xmlns:a16="http://schemas.microsoft.com/office/drawing/2014/main" val="182817307"/>
                    </a:ext>
                  </a:extLst>
                </a:gridCol>
              </a:tblGrid>
              <a:tr h="0">
                <a:tc>
                  <a:txBody>
                    <a:bodyPr/>
                    <a:lstStyle/>
                    <a:p>
                      <a:pPr algn="just" fontAlgn="t"/>
                      <a:r>
                        <a:rPr lang="pt-BR">
                          <a:solidFill>
                            <a:srgbClr val="333333"/>
                          </a:solidFill>
                          <a:effectLst/>
                          <a:latin typeface="inter-regular"/>
                        </a:rPr>
                        <a:t>ADD r</a:t>
                      </a:r>
                      <a:br>
                        <a:rPr lang="pt-BR">
                          <a:solidFill>
                            <a:srgbClr val="333333"/>
                          </a:solidFill>
                          <a:effectLst/>
                          <a:latin typeface="inter-regular"/>
                        </a:rPr>
                      </a:br>
                      <a:r>
                        <a:rPr lang="pt-BR">
                          <a:solidFill>
                            <a:srgbClr val="333333"/>
                          </a:solidFill>
                          <a:effectLst/>
                          <a:latin typeface="inter-regular"/>
                        </a:rPr>
                        <a:t>[A] ←[A]+[r]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Add register to accumulator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Register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ADD 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977076366"/>
                  </a:ext>
                </a:extLst>
              </a:tr>
              <a:tr h="0">
                <a:tc>
                  <a:txBody>
                    <a:bodyPr/>
                    <a:lstStyle/>
                    <a:p>
                      <a:pPr algn="just" fontAlgn="t"/>
                      <a:r>
                        <a:rPr lang="pt-BR">
                          <a:solidFill>
                            <a:srgbClr val="333333"/>
                          </a:solidFill>
                          <a:effectLst/>
                          <a:latin typeface="inter-regular"/>
                        </a:rPr>
                        <a:t>ADD M</a:t>
                      </a:r>
                      <a:br>
                        <a:rPr lang="pt-BR">
                          <a:solidFill>
                            <a:srgbClr val="333333"/>
                          </a:solidFill>
                          <a:effectLst/>
                          <a:latin typeface="inter-regular"/>
                        </a:rPr>
                      </a:br>
                      <a:r>
                        <a:rPr lang="pt-BR">
                          <a:solidFill>
                            <a:srgbClr val="333333"/>
                          </a:solidFill>
                          <a:effectLst/>
                          <a:latin typeface="inter-regular"/>
                        </a:rPr>
                        <a:t>[A] ← [A] + [[H-L]]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Add memory to accumulator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Register indirect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ADD M</a:t>
                      </a:r>
                    </a:p>
                    <a:p>
                      <a:pPr algn="just" fontAlgn="t"/>
                      <a:endParaRPr lang="en-IN" dirty="0">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06467128"/>
                  </a:ext>
                </a:extLst>
              </a:tr>
            </a:tbl>
          </a:graphicData>
        </a:graphic>
      </p:graphicFrame>
      <p:graphicFrame>
        <p:nvGraphicFramePr>
          <p:cNvPr id="5" name="Table 4">
            <a:extLst>
              <a:ext uri="{FF2B5EF4-FFF2-40B4-BE49-F238E27FC236}">
                <a16:creationId xmlns:a16="http://schemas.microsoft.com/office/drawing/2014/main" id="{DAB7536D-5DE9-3C52-927A-BF8479AD9CCB}"/>
              </a:ext>
            </a:extLst>
          </p:cNvPr>
          <p:cNvGraphicFramePr>
            <a:graphicFrameLocks noGrp="1"/>
          </p:cNvGraphicFramePr>
          <p:nvPr>
            <p:extLst>
              <p:ext uri="{D42A27DB-BD31-4B8C-83A1-F6EECF244321}">
                <p14:modId xmlns:p14="http://schemas.microsoft.com/office/powerpoint/2010/main" val="4010333474"/>
              </p:ext>
            </p:extLst>
          </p:nvPr>
        </p:nvGraphicFramePr>
        <p:xfrm>
          <a:off x="735565" y="3525740"/>
          <a:ext cx="7949681" cy="1889760"/>
        </p:xfrm>
        <a:graphic>
          <a:graphicData uri="http://schemas.openxmlformats.org/drawingml/2006/table">
            <a:tbl>
              <a:tblPr/>
              <a:tblGrid>
                <a:gridCol w="1723053">
                  <a:extLst>
                    <a:ext uri="{9D8B030D-6E8A-4147-A177-3AD203B41FA5}">
                      <a16:colId xmlns:a16="http://schemas.microsoft.com/office/drawing/2014/main" val="2685495425"/>
                    </a:ext>
                  </a:extLst>
                </a:gridCol>
                <a:gridCol w="1556657">
                  <a:extLst>
                    <a:ext uri="{9D8B030D-6E8A-4147-A177-3AD203B41FA5}">
                      <a16:colId xmlns:a16="http://schemas.microsoft.com/office/drawing/2014/main" val="2359084955"/>
                    </a:ext>
                  </a:extLst>
                </a:gridCol>
                <a:gridCol w="1556657">
                  <a:extLst>
                    <a:ext uri="{9D8B030D-6E8A-4147-A177-3AD203B41FA5}">
                      <a16:colId xmlns:a16="http://schemas.microsoft.com/office/drawing/2014/main" val="1510227845"/>
                    </a:ext>
                  </a:extLst>
                </a:gridCol>
                <a:gridCol w="1556657">
                  <a:extLst>
                    <a:ext uri="{9D8B030D-6E8A-4147-A177-3AD203B41FA5}">
                      <a16:colId xmlns:a16="http://schemas.microsoft.com/office/drawing/2014/main" val="3561512639"/>
                    </a:ext>
                  </a:extLst>
                </a:gridCol>
                <a:gridCol w="1556657">
                  <a:extLst>
                    <a:ext uri="{9D8B030D-6E8A-4147-A177-3AD203B41FA5}">
                      <a16:colId xmlns:a16="http://schemas.microsoft.com/office/drawing/2014/main" val="1910473524"/>
                    </a:ext>
                  </a:extLst>
                </a:gridCol>
              </a:tblGrid>
              <a:tr h="899945">
                <a:tc>
                  <a:txBody>
                    <a:bodyPr/>
                    <a:lstStyle/>
                    <a:p>
                      <a:pPr algn="just" fontAlgn="t"/>
                      <a:r>
                        <a:rPr lang="pt-BR" dirty="0">
                          <a:solidFill>
                            <a:srgbClr val="333333"/>
                          </a:solidFill>
                          <a:effectLst/>
                          <a:latin typeface="inter-regular"/>
                        </a:rPr>
                        <a:t>SUB r</a:t>
                      </a:r>
                      <a:br>
                        <a:rPr lang="pt-BR" dirty="0">
                          <a:solidFill>
                            <a:srgbClr val="333333"/>
                          </a:solidFill>
                          <a:effectLst/>
                          <a:latin typeface="inter-regular"/>
                        </a:rPr>
                      </a:br>
                      <a:r>
                        <a:rPr lang="pt-BR" dirty="0">
                          <a:solidFill>
                            <a:srgbClr val="333333"/>
                          </a:solidFill>
                          <a:effectLst/>
                          <a:latin typeface="inter-regular"/>
                        </a:rPr>
                        <a:t>[A] ←[A]-[r]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Subtract register from accumulator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Register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SUB 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703524045"/>
                  </a:ext>
                </a:extLst>
              </a:tr>
              <a:tr h="899945">
                <a:tc>
                  <a:txBody>
                    <a:bodyPr/>
                    <a:lstStyle/>
                    <a:p>
                      <a:pPr algn="just" fontAlgn="t"/>
                      <a:r>
                        <a:rPr lang="pt-BR">
                          <a:solidFill>
                            <a:srgbClr val="333333"/>
                          </a:solidFill>
                          <a:effectLst/>
                          <a:latin typeface="inter-regular"/>
                        </a:rPr>
                        <a:t>SUB M</a:t>
                      </a:r>
                      <a:br>
                        <a:rPr lang="pt-BR">
                          <a:solidFill>
                            <a:srgbClr val="333333"/>
                          </a:solidFill>
                          <a:effectLst/>
                          <a:latin typeface="inter-regular"/>
                        </a:rPr>
                      </a:br>
                      <a:r>
                        <a:rPr lang="pt-BR">
                          <a:solidFill>
                            <a:srgbClr val="333333"/>
                          </a:solidFill>
                          <a:effectLst/>
                          <a:latin typeface="inter-regular"/>
                        </a:rPr>
                        <a:t>[A] ← [A] - [[H-L]]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Subtract memory from accumulator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Register indirect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SUB M</a:t>
                      </a:r>
                      <a:endParaRPr lang="en-IN" dirty="0">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3337677"/>
                  </a:ext>
                </a:extLst>
              </a:tr>
            </a:tbl>
          </a:graphicData>
        </a:graphic>
      </p:graphicFrame>
    </p:spTree>
    <p:extLst>
      <p:ext uri="{BB962C8B-B14F-4D97-AF65-F5344CB8AC3E}">
        <p14:creationId xmlns:p14="http://schemas.microsoft.com/office/powerpoint/2010/main" val="858259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264A902-9FE6-D1BF-B1ED-ABAD6D0B05B9}"/>
              </a:ext>
            </a:extLst>
          </p:cNvPr>
          <p:cNvSpPr txBox="1"/>
          <p:nvPr/>
        </p:nvSpPr>
        <p:spPr>
          <a:xfrm>
            <a:off x="998376" y="1556757"/>
            <a:ext cx="8147956" cy="4782335"/>
          </a:xfrm>
          <a:prstGeom prst="rect">
            <a:avLst/>
          </a:prstGeom>
          <a:noFill/>
        </p:spPr>
        <p:txBody>
          <a:bodyPr wrap="square">
            <a:spAutoFit/>
          </a:bodyPr>
          <a:lstStyle/>
          <a:p>
            <a:pPr marL="292100" marR="0">
              <a:lnSpc>
                <a:spcPct val="150000"/>
              </a:lnSpc>
              <a:spcBef>
                <a:spcPts val="0"/>
              </a:spcBef>
              <a:spcAft>
                <a:spcPts val="0"/>
              </a:spcAft>
            </a:pPr>
            <a:r>
              <a:rPr lang="en-US" sz="1600" dirty="0">
                <a:effectLst/>
                <a:latin typeface="Verdana" panose="020B0604030504040204" pitchFamily="34" charset="0"/>
              </a:rPr>
              <a:t>GNUSim8085</a:t>
            </a:r>
            <a:r>
              <a:rPr lang="en-US" sz="1600" spc="-10" dirty="0">
                <a:effectLst/>
                <a:latin typeface="Verdana" panose="020B0604030504040204" pitchFamily="34" charset="0"/>
              </a:rPr>
              <a:t> </a:t>
            </a:r>
            <a:r>
              <a:rPr lang="en-US" sz="1600" dirty="0">
                <a:effectLst/>
                <a:latin typeface="Verdana" panose="020B0604030504040204" pitchFamily="34" charset="0"/>
              </a:rPr>
              <a:t>is</a:t>
            </a:r>
            <a:r>
              <a:rPr lang="en-US" sz="1600" spc="-5" dirty="0">
                <a:effectLst/>
                <a:latin typeface="Verdana" panose="020B0604030504040204" pitchFamily="34" charset="0"/>
              </a:rPr>
              <a:t> </a:t>
            </a:r>
            <a:r>
              <a:rPr lang="en-US" sz="1600" dirty="0">
                <a:effectLst/>
                <a:latin typeface="Verdana" panose="020B0604030504040204" pitchFamily="34" charset="0"/>
              </a:rPr>
              <a:t>a</a:t>
            </a:r>
            <a:r>
              <a:rPr lang="en-US" sz="1600" spc="-5" dirty="0">
                <a:effectLst/>
                <a:latin typeface="Verdana" panose="020B0604030504040204" pitchFamily="34" charset="0"/>
              </a:rPr>
              <a:t> </a:t>
            </a:r>
            <a:r>
              <a:rPr lang="en-US" sz="1600" dirty="0">
                <a:effectLst/>
                <a:latin typeface="Verdana" panose="020B0604030504040204" pitchFamily="34" charset="0"/>
              </a:rPr>
              <a:t>8085</a:t>
            </a:r>
            <a:r>
              <a:rPr lang="en-US" sz="1600" spc="-5" dirty="0">
                <a:effectLst/>
                <a:latin typeface="Verdana" panose="020B0604030504040204" pitchFamily="34" charset="0"/>
              </a:rPr>
              <a:t> </a:t>
            </a:r>
            <a:r>
              <a:rPr lang="en-US" sz="1600" dirty="0">
                <a:effectLst/>
                <a:latin typeface="Verdana" panose="020B0604030504040204" pitchFamily="34" charset="0"/>
              </a:rPr>
              <a:t>microprocessor</a:t>
            </a:r>
            <a:r>
              <a:rPr lang="en-US" sz="1600" spc="-5" dirty="0">
                <a:effectLst/>
                <a:latin typeface="Verdana" panose="020B0604030504040204" pitchFamily="34" charset="0"/>
              </a:rPr>
              <a:t> </a:t>
            </a:r>
            <a:r>
              <a:rPr lang="en-US" sz="1600" dirty="0">
                <a:effectLst/>
                <a:latin typeface="Verdana" panose="020B0604030504040204" pitchFamily="34" charset="0"/>
              </a:rPr>
              <a:t>simulator</a:t>
            </a:r>
            <a:r>
              <a:rPr lang="en-US" sz="1600" spc="-5" dirty="0">
                <a:effectLst/>
                <a:latin typeface="Verdana" panose="020B0604030504040204" pitchFamily="34" charset="0"/>
              </a:rPr>
              <a:t> </a:t>
            </a:r>
            <a:r>
              <a:rPr lang="en-US" sz="1600" dirty="0">
                <a:effectLst/>
                <a:latin typeface="Verdana" panose="020B0604030504040204" pitchFamily="34" charset="0"/>
              </a:rPr>
              <a:t>with</a:t>
            </a:r>
            <a:r>
              <a:rPr lang="en-US" sz="1600" spc="-5" dirty="0">
                <a:effectLst/>
                <a:latin typeface="Verdana" panose="020B0604030504040204" pitchFamily="34" charset="0"/>
              </a:rPr>
              <a:t> </a:t>
            </a:r>
            <a:r>
              <a:rPr lang="en-US" sz="1600" dirty="0">
                <a:effectLst/>
                <a:latin typeface="Verdana" panose="020B0604030504040204" pitchFamily="34" charset="0"/>
              </a:rPr>
              <a:t>following</a:t>
            </a:r>
            <a:r>
              <a:rPr lang="en-US" sz="1600" spc="-20" dirty="0">
                <a:effectLst/>
                <a:latin typeface="Verdana" panose="020B0604030504040204" pitchFamily="34" charset="0"/>
              </a:rPr>
              <a:t> </a:t>
            </a:r>
            <a:r>
              <a:rPr lang="en-US" sz="1600" dirty="0">
                <a:effectLst/>
                <a:latin typeface="Verdana" panose="020B0604030504040204" pitchFamily="34" charset="0"/>
              </a:rPr>
              <a:t>features.</a:t>
            </a:r>
          </a:p>
          <a:p>
            <a:pPr marL="0" marR="0">
              <a:lnSpc>
                <a:spcPct val="150000"/>
              </a:lnSpc>
              <a:spcBef>
                <a:spcPts val="35"/>
              </a:spcBef>
              <a:spcAft>
                <a:spcPts val="0"/>
              </a:spcAft>
            </a:pPr>
            <a:r>
              <a:rPr lang="en-US" sz="1600" dirty="0">
                <a:effectLst/>
                <a:latin typeface="Verdana" panose="020B0604030504040204" pitchFamily="34" charset="0"/>
              </a:rPr>
              <a:t> </a:t>
            </a:r>
          </a:p>
          <a:p>
            <a:pPr marL="742950" lvl="1" indent="-285750">
              <a:lnSpc>
                <a:spcPct val="150000"/>
              </a:lnSpc>
              <a:buFont typeface="Symbol" panose="05050102010706020507" pitchFamily="18" charset="2"/>
              <a:buChar char=""/>
            </a:pPr>
            <a:r>
              <a:rPr lang="en-US" sz="1600" dirty="0">
                <a:effectLst/>
                <a:latin typeface="Verdana" panose="020B0604030504040204" pitchFamily="34" charset="0"/>
              </a:rPr>
              <a:t>A</a:t>
            </a:r>
            <a:r>
              <a:rPr lang="en-US" sz="1600" spc="-10" dirty="0">
                <a:effectLst/>
                <a:latin typeface="Verdana" panose="020B0604030504040204" pitchFamily="34" charset="0"/>
              </a:rPr>
              <a:t> </a:t>
            </a:r>
            <a:r>
              <a:rPr lang="en-US" sz="1600" dirty="0">
                <a:effectLst/>
                <a:latin typeface="Verdana" panose="020B0604030504040204" pitchFamily="34" charset="0"/>
              </a:rPr>
              <a:t>simple</a:t>
            </a:r>
            <a:r>
              <a:rPr lang="en-US" sz="1600" spc="-5" dirty="0">
                <a:effectLst/>
                <a:latin typeface="Verdana" panose="020B0604030504040204" pitchFamily="34" charset="0"/>
              </a:rPr>
              <a:t> </a:t>
            </a:r>
            <a:r>
              <a:rPr lang="en-US" sz="1600" dirty="0">
                <a:effectLst/>
                <a:latin typeface="Verdana" panose="020B0604030504040204" pitchFamily="34" charset="0"/>
              </a:rPr>
              <a:t>editor</a:t>
            </a:r>
            <a:r>
              <a:rPr lang="en-US" sz="1600" spc="-15" dirty="0">
                <a:effectLst/>
                <a:latin typeface="Verdana" panose="020B0604030504040204" pitchFamily="34" charset="0"/>
              </a:rPr>
              <a:t> </a:t>
            </a:r>
            <a:r>
              <a:rPr lang="en-US" sz="1600" dirty="0">
                <a:effectLst/>
                <a:latin typeface="Verdana" panose="020B0604030504040204" pitchFamily="34" charset="0"/>
              </a:rPr>
              <a:t>component</a:t>
            </a:r>
            <a:r>
              <a:rPr lang="en-US" sz="1600" spc="-5" dirty="0">
                <a:effectLst/>
                <a:latin typeface="Verdana" panose="020B0604030504040204" pitchFamily="34" charset="0"/>
              </a:rPr>
              <a:t> </a:t>
            </a:r>
            <a:r>
              <a:rPr lang="en-US" sz="1600" dirty="0">
                <a:effectLst/>
                <a:latin typeface="Verdana" panose="020B0604030504040204" pitchFamily="34" charset="0"/>
              </a:rPr>
              <a:t>with</a:t>
            </a:r>
            <a:r>
              <a:rPr lang="en-US" sz="1600" spc="-5" dirty="0">
                <a:effectLst/>
                <a:latin typeface="Verdana" panose="020B0604030504040204" pitchFamily="34" charset="0"/>
              </a:rPr>
              <a:t> </a:t>
            </a:r>
            <a:r>
              <a:rPr lang="en-US" sz="1600" dirty="0">
                <a:effectLst/>
                <a:latin typeface="Verdana" panose="020B0604030504040204" pitchFamily="34" charset="0"/>
              </a:rPr>
              <a:t>syntax</a:t>
            </a:r>
            <a:r>
              <a:rPr lang="en-US" sz="1600" spc="-5" dirty="0">
                <a:effectLst/>
                <a:latin typeface="Verdana" panose="020B0604030504040204" pitchFamily="34" charset="0"/>
              </a:rPr>
              <a:t> </a:t>
            </a:r>
            <a:r>
              <a:rPr lang="en-US" sz="1600" dirty="0">
                <a:effectLst/>
                <a:latin typeface="Verdana" panose="020B0604030504040204" pitchFamily="34" charset="0"/>
              </a:rPr>
              <a:t>highlighting.</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A</a:t>
            </a:r>
            <a:r>
              <a:rPr lang="en-US" sz="1600" spc="-5" dirty="0">
                <a:effectLst/>
                <a:latin typeface="Verdana" panose="020B0604030504040204" pitchFamily="34" charset="0"/>
              </a:rPr>
              <a:t> </a:t>
            </a:r>
            <a:r>
              <a:rPr lang="en-US" sz="1600" dirty="0">
                <a:effectLst/>
                <a:latin typeface="Verdana" panose="020B0604030504040204" pitchFamily="34" charset="0"/>
              </a:rPr>
              <a:t>keypad</a:t>
            </a:r>
            <a:r>
              <a:rPr lang="en-US" sz="1600" spc="-5" dirty="0">
                <a:effectLst/>
                <a:latin typeface="Verdana" panose="020B0604030504040204" pitchFamily="34" charset="0"/>
              </a:rPr>
              <a:t> </a:t>
            </a:r>
            <a:r>
              <a:rPr lang="en-US" sz="1600" dirty="0">
                <a:effectLst/>
                <a:latin typeface="Verdana" panose="020B0604030504040204" pitchFamily="34" charset="0"/>
              </a:rPr>
              <a:t>to input</a:t>
            </a:r>
            <a:r>
              <a:rPr lang="en-US" sz="1600" spc="-5" dirty="0">
                <a:effectLst/>
                <a:latin typeface="Verdana" panose="020B0604030504040204" pitchFamily="34" charset="0"/>
              </a:rPr>
              <a:t> </a:t>
            </a:r>
            <a:r>
              <a:rPr lang="en-US" sz="1600" dirty="0">
                <a:effectLst/>
                <a:latin typeface="Verdana" panose="020B0604030504040204" pitchFamily="34" charset="0"/>
              </a:rPr>
              <a:t>assembly</a:t>
            </a:r>
            <a:r>
              <a:rPr lang="en-US" sz="1600" spc="-30" dirty="0">
                <a:effectLst/>
                <a:latin typeface="Verdana" panose="020B0604030504040204" pitchFamily="34" charset="0"/>
              </a:rPr>
              <a:t> </a:t>
            </a:r>
            <a:r>
              <a:rPr lang="en-US" sz="1600" dirty="0">
                <a:effectLst/>
                <a:latin typeface="Verdana" panose="020B0604030504040204" pitchFamily="34" charset="0"/>
              </a:rPr>
              <a:t>language</a:t>
            </a:r>
            <a:r>
              <a:rPr lang="en-US" sz="1600" spc="-5" dirty="0">
                <a:effectLst/>
                <a:latin typeface="Verdana" panose="020B0604030504040204" pitchFamily="34" charset="0"/>
              </a:rPr>
              <a:t> </a:t>
            </a:r>
            <a:r>
              <a:rPr lang="en-US" sz="1600" dirty="0">
                <a:effectLst/>
                <a:latin typeface="Verdana" panose="020B0604030504040204" pitchFamily="34" charset="0"/>
              </a:rPr>
              <a:t>instructions</a:t>
            </a:r>
            <a:r>
              <a:rPr lang="en-US" sz="1600" spc="-5" dirty="0">
                <a:effectLst/>
                <a:latin typeface="Verdana" panose="020B0604030504040204" pitchFamily="34" charset="0"/>
              </a:rPr>
              <a:t> </a:t>
            </a:r>
            <a:r>
              <a:rPr lang="en-US" sz="1600" dirty="0">
                <a:effectLst/>
                <a:latin typeface="Verdana" panose="020B0604030504040204" pitchFamily="34" charset="0"/>
              </a:rPr>
              <a:t>with appropriate arguments.</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Easy</a:t>
            </a:r>
            <a:r>
              <a:rPr lang="en-US" sz="1600" spc="-30" dirty="0">
                <a:effectLst/>
                <a:latin typeface="Verdana" panose="020B0604030504040204" pitchFamily="34" charset="0"/>
              </a:rPr>
              <a:t> </a:t>
            </a:r>
            <a:r>
              <a:rPr lang="en-US" sz="1600" dirty="0">
                <a:effectLst/>
                <a:latin typeface="Verdana" panose="020B0604030504040204" pitchFamily="34" charset="0"/>
              </a:rPr>
              <a:t>view of</a:t>
            </a:r>
            <a:r>
              <a:rPr lang="en-US" sz="1600" spc="-10" dirty="0">
                <a:effectLst/>
                <a:latin typeface="Verdana" panose="020B0604030504040204" pitchFamily="34" charset="0"/>
              </a:rPr>
              <a:t> </a:t>
            </a:r>
            <a:r>
              <a:rPr lang="en-US" sz="1600" dirty="0">
                <a:effectLst/>
                <a:latin typeface="Verdana" panose="020B0604030504040204" pitchFamily="34" charset="0"/>
              </a:rPr>
              <a:t>register contents.</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Easy</a:t>
            </a:r>
            <a:r>
              <a:rPr lang="en-US" sz="1600" spc="-25" dirty="0">
                <a:effectLst/>
                <a:latin typeface="Verdana" panose="020B0604030504040204" pitchFamily="34" charset="0"/>
              </a:rPr>
              <a:t> </a:t>
            </a:r>
            <a:r>
              <a:rPr lang="en-US" sz="1600" dirty="0">
                <a:effectLst/>
                <a:latin typeface="Verdana" panose="020B0604030504040204" pitchFamily="34" charset="0"/>
              </a:rPr>
              <a:t>view</a:t>
            </a:r>
            <a:r>
              <a:rPr lang="en-US" sz="1600" spc="5" dirty="0">
                <a:effectLst/>
                <a:latin typeface="Verdana" panose="020B0604030504040204" pitchFamily="34" charset="0"/>
              </a:rPr>
              <a:t> </a:t>
            </a:r>
            <a:r>
              <a:rPr lang="en-US" sz="1600" dirty="0">
                <a:effectLst/>
                <a:latin typeface="Verdana" panose="020B0604030504040204" pitchFamily="34" charset="0"/>
              </a:rPr>
              <a:t>of</a:t>
            </a:r>
            <a:r>
              <a:rPr lang="en-US" sz="1600" spc="-5" dirty="0">
                <a:effectLst/>
                <a:latin typeface="Verdana" panose="020B0604030504040204" pitchFamily="34" charset="0"/>
              </a:rPr>
              <a:t> </a:t>
            </a:r>
            <a:r>
              <a:rPr lang="en-US" sz="1600" dirty="0">
                <a:effectLst/>
                <a:latin typeface="Verdana" panose="020B0604030504040204" pitchFamily="34" charset="0"/>
              </a:rPr>
              <a:t>flag</a:t>
            </a:r>
            <a:r>
              <a:rPr lang="en-US" sz="1600" spc="-15" dirty="0">
                <a:effectLst/>
                <a:latin typeface="Verdana" panose="020B0604030504040204" pitchFamily="34" charset="0"/>
              </a:rPr>
              <a:t> </a:t>
            </a:r>
            <a:r>
              <a:rPr lang="en-US" sz="1600" dirty="0">
                <a:effectLst/>
                <a:latin typeface="Verdana" panose="020B0604030504040204" pitchFamily="34" charset="0"/>
              </a:rPr>
              <a:t>contents.</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Hexadecimal</a:t>
            </a:r>
            <a:r>
              <a:rPr lang="en-US" sz="1600" spc="-10" dirty="0">
                <a:effectLst/>
                <a:latin typeface="Verdana" panose="020B0604030504040204" pitchFamily="34" charset="0"/>
              </a:rPr>
              <a:t> </a:t>
            </a:r>
            <a:r>
              <a:rPr lang="en-US" sz="1600" dirty="0">
                <a:effectLst/>
                <a:latin typeface="Verdana" panose="020B0604030504040204" pitchFamily="34" charset="0"/>
              </a:rPr>
              <a:t>&lt;--&gt;</a:t>
            </a:r>
            <a:r>
              <a:rPr lang="en-US" sz="1600" spc="-10" dirty="0">
                <a:effectLst/>
                <a:latin typeface="Verdana" panose="020B0604030504040204" pitchFamily="34" charset="0"/>
              </a:rPr>
              <a:t> </a:t>
            </a:r>
            <a:r>
              <a:rPr lang="en-US" sz="1600" dirty="0">
                <a:effectLst/>
                <a:latin typeface="Verdana" panose="020B0604030504040204" pitchFamily="34" charset="0"/>
              </a:rPr>
              <a:t>Decimal</a:t>
            </a:r>
            <a:r>
              <a:rPr lang="en-US" sz="1600" spc="-5" dirty="0">
                <a:effectLst/>
                <a:latin typeface="Verdana" panose="020B0604030504040204" pitchFamily="34" charset="0"/>
              </a:rPr>
              <a:t> </a:t>
            </a:r>
            <a:r>
              <a:rPr lang="en-US" sz="1600" dirty="0">
                <a:effectLst/>
                <a:latin typeface="Verdana" panose="020B0604030504040204" pitchFamily="34" charset="0"/>
              </a:rPr>
              <a:t>converter.</a:t>
            </a:r>
          </a:p>
          <a:p>
            <a:pPr marL="742950" lvl="1" indent="-285750">
              <a:lnSpc>
                <a:spcPct val="150000"/>
              </a:lnSpc>
              <a:spcBef>
                <a:spcPts val="305"/>
              </a:spcBef>
              <a:buFont typeface="Symbol" panose="05050102010706020507" pitchFamily="18" charset="2"/>
              <a:buChar char=""/>
            </a:pPr>
            <a:r>
              <a:rPr lang="en-US" sz="1600" dirty="0">
                <a:effectLst/>
                <a:latin typeface="Verdana" panose="020B0604030504040204" pitchFamily="34" charset="0"/>
              </a:rPr>
              <a:t>View</a:t>
            </a:r>
            <a:r>
              <a:rPr lang="en-US" sz="1600" spc="-5" dirty="0">
                <a:effectLst/>
                <a:latin typeface="Verdana" panose="020B0604030504040204" pitchFamily="34" charset="0"/>
              </a:rPr>
              <a:t> </a:t>
            </a:r>
            <a:r>
              <a:rPr lang="en-US" sz="1600" dirty="0">
                <a:effectLst/>
                <a:latin typeface="Verdana" panose="020B0604030504040204" pitchFamily="34" charset="0"/>
              </a:rPr>
              <a:t>of</a:t>
            </a:r>
            <a:r>
              <a:rPr lang="en-US" sz="1600" spc="-15" dirty="0">
                <a:effectLst/>
                <a:latin typeface="Verdana" panose="020B0604030504040204" pitchFamily="34" charset="0"/>
              </a:rPr>
              <a:t> </a:t>
            </a:r>
            <a:r>
              <a:rPr lang="en-US" sz="1600" dirty="0">
                <a:effectLst/>
                <a:latin typeface="Verdana" panose="020B0604030504040204" pitchFamily="34" charset="0"/>
              </a:rPr>
              <a:t>stack, memory</a:t>
            </a:r>
            <a:r>
              <a:rPr lang="en-US" sz="1600" spc="-30" dirty="0">
                <a:effectLst/>
                <a:latin typeface="Verdana" panose="020B0604030504040204" pitchFamily="34" charset="0"/>
              </a:rPr>
              <a:t> </a:t>
            </a:r>
            <a:r>
              <a:rPr lang="en-US" sz="1600" dirty="0">
                <a:effectLst/>
                <a:latin typeface="Verdana" panose="020B0604030504040204" pitchFamily="34" charset="0"/>
              </a:rPr>
              <a:t>and</a:t>
            </a:r>
            <a:r>
              <a:rPr lang="en-US" sz="1600" spc="10" dirty="0">
                <a:effectLst/>
                <a:latin typeface="Verdana" panose="020B0604030504040204" pitchFamily="34" charset="0"/>
              </a:rPr>
              <a:t> </a:t>
            </a:r>
            <a:r>
              <a:rPr lang="en-US" sz="1600" dirty="0">
                <a:effectLst/>
                <a:latin typeface="Verdana" panose="020B0604030504040204" pitchFamily="34" charset="0"/>
              </a:rPr>
              <a:t>I/O</a:t>
            </a:r>
            <a:r>
              <a:rPr lang="en-US" sz="1600" spc="5" dirty="0">
                <a:effectLst/>
                <a:latin typeface="Verdana" panose="020B0604030504040204" pitchFamily="34" charset="0"/>
              </a:rPr>
              <a:t> </a:t>
            </a:r>
            <a:r>
              <a:rPr lang="en-US" sz="1600" dirty="0">
                <a:effectLst/>
                <a:latin typeface="Verdana" panose="020B0604030504040204" pitchFamily="34" charset="0"/>
              </a:rPr>
              <a:t>contents.</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Support</a:t>
            </a:r>
            <a:r>
              <a:rPr lang="en-US" sz="1600" spc="-10" dirty="0">
                <a:effectLst/>
                <a:latin typeface="Verdana" panose="020B0604030504040204" pitchFamily="34" charset="0"/>
              </a:rPr>
              <a:t> </a:t>
            </a:r>
            <a:r>
              <a:rPr lang="en-US" sz="1600" dirty="0">
                <a:effectLst/>
                <a:latin typeface="Verdana" panose="020B0604030504040204" pitchFamily="34" charset="0"/>
              </a:rPr>
              <a:t>for</a:t>
            </a:r>
            <a:r>
              <a:rPr lang="en-US" sz="1600" spc="-10" dirty="0">
                <a:effectLst/>
                <a:latin typeface="Verdana" panose="020B0604030504040204" pitchFamily="34" charset="0"/>
              </a:rPr>
              <a:t> </a:t>
            </a:r>
            <a:r>
              <a:rPr lang="en-US" sz="1600" dirty="0">
                <a:effectLst/>
                <a:latin typeface="Verdana" panose="020B0604030504040204" pitchFamily="34" charset="0"/>
              </a:rPr>
              <a:t>breakpoints</a:t>
            </a:r>
            <a:r>
              <a:rPr lang="en-US" sz="1600" spc="-5" dirty="0">
                <a:effectLst/>
                <a:latin typeface="Verdana" panose="020B0604030504040204" pitchFamily="34" charset="0"/>
              </a:rPr>
              <a:t> </a:t>
            </a:r>
            <a:r>
              <a:rPr lang="en-US" sz="1600" dirty="0">
                <a:effectLst/>
                <a:latin typeface="Verdana" panose="020B0604030504040204" pitchFamily="34" charset="0"/>
              </a:rPr>
              <a:t>for</a:t>
            </a:r>
            <a:r>
              <a:rPr lang="en-US" sz="1600" spc="-15" dirty="0">
                <a:effectLst/>
                <a:latin typeface="Verdana" panose="020B0604030504040204" pitchFamily="34" charset="0"/>
              </a:rPr>
              <a:t> </a:t>
            </a:r>
            <a:r>
              <a:rPr lang="en-US" sz="1600" dirty="0">
                <a:effectLst/>
                <a:latin typeface="Verdana" panose="020B0604030504040204" pitchFamily="34" charset="0"/>
              </a:rPr>
              <a:t>programming</a:t>
            </a:r>
            <a:r>
              <a:rPr lang="en-US" sz="1600" spc="-20" dirty="0">
                <a:effectLst/>
                <a:latin typeface="Verdana" panose="020B0604030504040204" pitchFamily="34" charset="0"/>
              </a:rPr>
              <a:t> </a:t>
            </a:r>
            <a:r>
              <a:rPr lang="en-US" sz="1600" dirty="0">
                <a:effectLst/>
                <a:latin typeface="Verdana" panose="020B0604030504040204" pitchFamily="34" charset="0"/>
              </a:rPr>
              <a:t>debugging.</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Stepwise</a:t>
            </a:r>
            <a:r>
              <a:rPr lang="en-US" sz="1600" spc="-5" dirty="0">
                <a:effectLst/>
                <a:latin typeface="Verdana" panose="020B0604030504040204" pitchFamily="34" charset="0"/>
              </a:rPr>
              <a:t> </a:t>
            </a:r>
            <a:r>
              <a:rPr lang="en-US" sz="1600" dirty="0">
                <a:effectLst/>
                <a:latin typeface="Verdana" panose="020B0604030504040204" pitchFamily="34" charset="0"/>
              </a:rPr>
              <a:t>program</a:t>
            </a:r>
            <a:r>
              <a:rPr lang="en-US" sz="1600" spc="-5" dirty="0">
                <a:effectLst/>
                <a:latin typeface="Verdana" panose="020B0604030504040204" pitchFamily="34" charset="0"/>
              </a:rPr>
              <a:t> </a:t>
            </a:r>
            <a:r>
              <a:rPr lang="en-US" sz="1600" dirty="0">
                <a:effectLst/>
                <a:latin typeface="Verdana" panose="020B0604030504040204" pitchFamily="34" charset="0"/>
              </a:rPr>
              <a:t>execution.</a:t>
            </a:r>
          </a:p>
          <a:p>
            <a:pPr marL="742950" lvl="1" indent="-285750">
              <a:lnSpc>
                <a:spcPct val="150000"/>
              </a:lnSpc>
              <a:spcBef>
                <a:spcPts val="300"/>
              </a:spcBef>
              <a:buFont typeface="Symbol" panose="05050102010706020507" pitchFamily="18" charset="2"/>
              <a:buChar char=""/>
            </a:pPr>
            <a:r>
              <a:rPr lang="en-US" sz="1600" dirty="0">
                <a:effectLst/>
                <a:latin typeface="Verdana" panose="020B0604030504040204" pitchFamily="34" charset="0"/>
              </a:rPr>
              <a:t>One</a:t>
            </a:r>
            <a:r>
              <a:rPr lang="en-US" sz="1600" spc="-15" dirty="0">
                <a:effectLst/>
                <a:latin typeface="Verdana" panose="020B0604030504040204" pitchFamily="34" charset="0"/>
              </a:rPr>
              <a:t> </a:t>
            </a:r>
            <a:r>
              <a:rPr lang="en-US" sz="1600" dirty="0">
                <a:effectLst/>
                <a:latin typeface="Verdana" panose="020B0604030504040204" pitchFamily="34" charset="0"/>
              </a:rPr>
              <a:t>click conversion</a:t>
            </a:r>
            <a:r>
              <a:rPr lang="en-US" sz="1600" spc="-5" dirty="0">
                <a:effectLst/>
                <a:latin typeface="Verdana" panose="020B0604030504040204" pitchFamily="34" charset="0"/>
              </a:rPr>
              <a:t> </a:t>
            </a:r>
            <a:r>
              <a:rPr lang="en-US" sz="1600" dirty="0">
                <a:effectLst/>
                <a:latin typeface="Verdana" panose="020B0604030504040204" pitchFamily="34" charset="0"/>
              </a:rPr>
              <a:t>of</a:t>
            </a:r>
            <a:r>
              <a:rPr lang="en-US" sz="1600" spc="5" dirty="0">
                <a:effectLst/>
                <a:latin typeface="Verdana" panose="020B0604030504040204" pitchFamily="34" charset="0"/>
              </a:rPr>
              <a:t> </a:t>
            </a:r>
            <a:r>
              <a:rPr lang="en-US" sz="1600" dirty="0">
                <a:effectLst/>
                <a:latin typeface="Verdana" panose="020B0604030504040204" pitchFamily="34" charset="0"/>
              </a:rPr>
              <a:t>assembly</a:t>
            </a:r>
            <a:r>
              <a:rPr lang="en-US" sz="1600" spc="-30" dirty="0">
                <a:effectLst/>
                <a:latin typeface="Verdana" panose="020B0604030504040204" pitchFamily="34" charset="0"/>
              </a:rPr>
              <a:t> </a:t>
            </a:r>
            <a:r>
              <a:rPr lang="en-US" sz="1600" dirty="0">
                <a:effectLst/>
                <a:latin typeface="Verdana" panose="020B0604030504040204" pitchFamily="34" charset="0"/>
              </a:rPr>
              <a:t>program to</a:t>
            </a:r>
            <a:r>
              <a:rPr lang="en-US" sz="1600" spc="-5" dirty="0">
                <a:effectLst/>
                <a:latin typeface="Verdana" panose="020B0604030504040204" pitchFamily="34" charset="0"/>
              </a:rPr>
              <a:t> </a:t>
            </a:r>
            <a:r>
              <a:rPr lang="en-US" sz="1600" dirty="0">
                <a:effectLst/>
                <a:latin typeface="Verdana" panose="020B0604030504040204" pitchFamily="34" charset="0"/>
              </a:rPr>
              <a:t>opcode</a:t>
            </a:r>
            <a:r>
              <a:rPr lang="en-US" sz="1600" spc="-5" dirty="0">
                <a:effectLst/>
                <a:latin typeface="Verdana" panose="020B0604030504040204" pitchFamily="34" charset="0"/>
              </a:rPr>
              <a:t> </a:t>
            </a:r>
            <a:r>
              <a:rPr lang="en-US" sz="1600" dirty="0">
                <a:effectLst/>
                <a:latin typeface="Verdana" panose="020B0604030504040204" pitchFamily="34" charset="0"/>
              </a:rPr>
              <a:t>listing.</a:t>
            </a:r>
          </a:p>
        </p:txBody>
      </p:sp>
    </p:spTree>
    <p:extLst>
      <p:ext uri="{BB962C8B-B14F-4D97-AF65-F5344CB8AC3E}">
        <p14:creationId xmlns:p14="http://schemas.microsoft.com/office/powerpoint/2010/main" val="3976311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FAD639-1681-015C-C960-821EF1268946}"/>
              </a:ext>
            </a:extLst>
          </p:cNvPr>
          <p:cNvSpPr>
            <a:spLocks noGrp="1"/>
          </p:cNvSpPr>
          <p:nvPr>
            <p:ph idx="1"/>
          </p:nvPr>
        </p:nvSpPr>
        <p:spPr>
          <a:xfrm>
            <a:off x="838200" y="298580"/>
            <a:ext cx="10515600" cy="5878383"/>
          </a:xfrm>
        </p:spPr>
        <p:txBody>
          <a:bodyPr/>
          <a:lstStyle/>
          <a:p>
            <a:pPr marL="0" indent="0">
              <a:buNone/>
            </a:pP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HOW</a:t>
            </a:r>
            <a:r>
              <a:rPr lang="en-US" sz="1800" b="1" u="heavy" spc="-10"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TO</a:t>
            </a:r>
            <a:r>
              <a:rPr lang="en-US" sz="1800" b="1" u="heavy" spc="-5"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START</a:t>
            </a:r>
            <a:r>
              <a:rPr lang="en-US" sz="1800" b="1" u="heavy" spc="-5"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WITH</a:t>
            </a:r>
            <a:r>
              <a:rPr lang="en-US" sz="1800" b="1" u="heavy" spc="-10"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GNU</a:t>
            </a:r>
            <a:r>
              <a:rPr lang="en-US" sz="1800" b="1" u="heavy" spc="-10"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Simulator</a:t>
            </a:r>
            <a:r>
              <a:rPr lang="en-US" sz="1800" b="1" u="heavy" spc="-15"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 </a:t>
            </a:r>
            <a:r>
              <a:rPr lang="en-US" sz="1800" b="1" u="heavy"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rPr>
              <a:t>8085</a:t>
            </a:r>
            <a:endParaRPr lang="en-US" sz="1800" b="1" dirty="0">
              <a:solidFill>
                <a:srgbClr val="243F61"/>
              </a:solidFill>
              <a:effectLst/>
              <a:latin typeface="Cambria" panose="02040503050406030204" pitchFamily="18" charset="0"/>
              <a:ea typeface="SimSun" panose="02010600030101010101" pitchFamily="2" charset="-122"/>
              <a:cs typeface="Times New Roman" panose="02020603050405020304" pitchFamily="18" charset="0"/>
            </a:endParaRPr>
          </a:p>
          <a:p>
            <a:pPr marL="292100" marR="652145" algn="just">
              <a:lnSpc>
                <a:spcPct val="150000"/>
              </a:lnSpc>
              <a:spcBef>
                <a:spcPts val="5"/>
              </a:spcBef>
              <a:spcAft>
                <a:spcPts val="0"/>
              </a:spcAft>
            </a:pPr>
            <a:r>
              <a:rPr lang="en-US" sz="1800" b="1" dirty="0">
                <a:effectLst/>
                <a:latin typeface="Verdana" panose="020B0604030504040204" pitchFamily="34" charset="0"/>
              </a:rPr>
              <a:t>Step1: </a:t>
            </a:r>
            <a:r>
              <a:rPr lang="en-US" sz="1800" dirty="0">
                <a:effectLst/>
                <a:latin typeface="Verdana" panose="020B0604030504040204" pitchFamily="34" charset="0"/>
              </a:rPr>
              <a:t>Open GNU Sim 8085 below window will open. Now click on close button highlighted in</a:t>
            </a:r>
            <a:r>
              <a:rPr lang="en-US" sz="1800" spc="-285" dirty="0">
                <a:effectLst/>
                <a:latin typeface="Verdana" panose="020B0604030504040204" pitchFamily="34" charset="0"/>
              </a:rPr>
              <a:t>  </a:t>
            </a:r>
            <a:r>
              <a:rPr lang="en-US" sz="1800" dirty="0">
                <a:effectLst/>
                <a:latin typeface="Verdana" panose="020B0604030504040204" pitchFamily="34" charset="0"/>
              </a:rPr>
              <a:t>the</a:t>
            </a:r>
            <a:r>
              <a:rPr lang="en-US" sz="1800" spc="-5" dirty="0">
                <a:effectLst/>
                <a:latin typeface="Verdana" panose="020B0604030504040204" pitchFamily="34" charset="0"/>
              </a:rPr>
              <a:t> </a:t>
            </a:r>
            <a:r>
              <a:rPr lang="en-US" sz="1800" dirty="0">
                <a:effectLst/>
                <a:latin typeface="Verdana" panose="020B0604030504040204" pitchFamily="34" charset="0"/>
              </a:rPr>
              <a:t>screen shot.</a:t>
            </a:r>
          </a:p>
          <a:p>
            <a:pPr marL="0" marR="0" indent="0">
              <a:spcBef>
                <a:spcPts val="0"/>
              </a:spcBef>
              <a:spcAft>
                <a:spcPts val="0"/>
              </a:spcAft>
              <a:buNone/>
            </a:pPr>
            <a:endParaRPr lang="en-US" sz="1800" dirty="0">
              <a:effectLst/>
              <a:latin typeface="Verdana" panose="020B0604030504040204" pitchFamily="34" charset="0"/>
            </a:endParaRPr>
          </a:p>
          <a:p>
            <a:pPr marL="0" indent="0">
              <a:buNone/>
            </a:pPr>
            <a:endParaRPr lang="en-US" dirty="0"/>
          </a:p>
        </p:txBody>
      </p:sp>
      <p:pic>
        <p:nvPicPr>
          <p:cNvPr id="6" name="image4.jpeg">
            <a:extLst>
              <a:ext uri="{FF2B5EF4-FFF2-40B4-BE49-F238E27FC236}">
                <a16:creationId xmlns:a16="http://schemas.microsoft.com/office/drawing/2014/main" id="{0624DF5B-8843-80F1-FC9C-F7E49EA52C13}"/>
              </a:ext>
            </a:extLst>
          </p:cNvPr>
          <p:cNvPicPr>
            <a:picLocks noChangeAspect="1"/>
          </p:cNvPicPr>
          <p:nvPr/>
        </p:nvPicPr>
        <p:blipFill>
          <a:blip r:embed="rId2" cstate="print"/>
          <a:stretch>
            <a:fillRect/>
          </a:stretch>
        </p:blipFill>
        <p:spPr>
          <a:xfrm>
            <a:off x="1147665" y="1900873"/>
            <a:ext cx="9237306" cy="4070719"/>
          </a:xfrm>
          <a:prstGeom prst="rect">
            <a:avLst/>
          </a:prstGeom>
        </p:spPr>
      </p:pic>
    </p:spTree>
    <p:extLst>
      <p:ext uri="{BB962C8B-B14F-4D97-AF65-F5344CB8AC3E}">
        <p14:creationId xmlns:p14="http://schemas.microsoft.com/office/powerpoint/2010/main" val="4253307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BED0F5-7DA2-FA06-A535-6C4DD910DDEB}"/>
              </a:ext>
            </a:extLst>
          </p:cNvPr>
          <p:cNvSpPr>
            <a:spLocks noGrp="1"/>
          </p:cNvSpPr>
          <p:nvPr>
            <p:ph idx="1"/>
          </p:nvPr>
        </p:nvSpPr>
        <p:spPr>
          <a:xfrm>
            <a:off x="838200" y="625151"/>
            <a:ext cx="10515600" cy="5551812"/>
          </a:xfrm>
        </p:spPr>
        <p:txBody>
          <a:bodyPr/>
          <a:lstStyle/>
          <a:p>
            <a:r>
              <a:rPr lang="en-US" sz="1800" b="1" dirty="0">
                <a:effectLst/>
                <a:latin typeface="Verdana" panose="020B0604030504040204" pitchFamily="34" charset="0"/>
              </a:rPr>
              <a:t>Step2:</a:t>
            </a:r>
            <a:r>
              <a:rPr lang="en-US" sz="1800" b="1" spc="-10" dirty="0">
                <a:effectLst/>
                <a:latin typeface="Verdana" panose="020B0604030504040204" pitchFamily="34" charset="0"/>
              </a:rPr>
              <a:t> </a:t>
            </a:r>
            <a:r>
              <a:rPr lang="en-US" sz="1800" dirty="0">
                <a:effectLst/>
                <a:latin typeface="Verdana" panose="020B0604030504040204" pitchFamily="34" charset="0"/>
              </a:rPr>
              <a:t>start writing</a:t>
            </a:r>
            <a:r>
              <a:rPr lang="en-US" sz="1800" spc="-20" dirty="0">
                <a:effectLst/>
                <a:latin typeface="Verdana" panose="020B0604030504040204" pitchFamily="34" charset="0"/>
              </a:rPr>
              <a:t> </a:t>
            </a:r>
            <a:r>
              <a:rPr lang="en-US" sz="1800" dirty="0">
                <a:effectLst/>
                <a:latin typeface="Verdana" panose="020B0604030504040204" pitchFamily="34" charset="0"/>
              </a:rPr>
              <a:t>the</a:t>
            </a:r>
            <a:r>
              <a:rPr lang="en-US" sz="1800" spc="5" dirty="0">
                <a:effectLst/>
                <a:latin typeface="Verdana" panose="020B0604030504040204" pitchFamily="34" charset="0"/>
              </a:rPr>
              <a:t> </a:t>
            </a:r>
            <a:r>
              <a:rPr lang="en-US" sz="1800" dirty="0">
                <a:effectLst/>
                <a:latin typeface="Verdana" panose="020B0604030504040204" pitchFamily="34" charset="0"/>
              </a:rPr>
              <a:t>code where the last line of the code should be HLT</a:t>
            </a:r>
            <a:r>
              <a:rPr lang="en-US" sz="1800" spc="-10" dirty="0">
                <a:effectLst/>
                <a:latin typeface="Verdana" panose="020B0604030504040204" pitchFamily="34" charset="0"/>
              </a:rPr>
              <a:t> </a:t>
            </a:r>
            <a:r>
              <a:rPr lang="en-US" sz="1800" dirty="0">
                <a:effectLst/>
                <a:latin typeface="Verdana" panose="020B0604030504040204" pitchFamily="34" charset="0"/>
              </a:rPr>
              <a:t>and save it in a specified folder.</a:t>
            </a:r>
          </a:p>
          <a:p>
            <a:endParaRPr lang="en-US" sz="1800" dirty="0">
              <a:effectLst/>
              <a:latin typeface="Verdana" panose="020B0604030504040204" pitchFamily="34" charset="0"/>
            </a:endParaRPr>
          </a:p>
          <a:p>
            <a:endParaRPr lang="en-IN" dirty="0"/>
          </a:p>
        </p:txBody>
      </p:sp>
      <p:pic>
        <p:nvPicPr>
          <p:cNvPr id="4" name="Picture 3">
            <a:extLst>
              <a:ext uri="{FF2B5EF4-FFF2-40B4-BE49-F238E27FC236}">
                <a16:creationId xmlns:a16="http://schemas.microsoft.com/office/drawing/2014/main" id="{A13E98A5-5DE6-EBC3-DA0E-DEC3288921DC}"/>
              </a:ext>
            </a:extLst>
          </p:cNvPr>
          <p:cNvPicPr>
            <a:picLocks noChangeAspect="1"/>
          </p:cNvPicPr>
          <p:nvPr/>
        </p:nvPicPr>
        <p:blipFill>
          <a:blip r:embed="rId2"/>
          <a:stretch>
            <a:fillRect/>
          </a:stretch>
        </p:blipFill>
        <p:spPr>
          <a:xfrm>
            <a:off x="1259634" y="1645285"/>
            <a:ext cx="7855474" cy="4587564"/>
          </a:xfrm>
          <a:prstGeom prst="rect">
            <a:avLst/>
          </a:prstGeom>
        </p:spPr>
      </p:pic>
    </p:spTree>
    <p:extLst>
      <p:ext uri="{BB962C8B-B14F-4D97-AF65-F5344CB8AC3E}">
        <p14:creationId xmlns:p14="http://schemas.microsoft.com/office/powerpoint/2010/main" val="4061335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F991BB8-4383-253A-65B8-2CC1968B3B4B}"/>
              </a:ext>
            </a:extLst>
          </p:cNvPr>
          <p:cNvSpPr>
            <a:spLocks noGrp="1"/>
          </p:cNvSpPr>
          <p:nvPr>
            <p:ph idx="1"/>
          </p:nvPr>
        </p:nvSpPr>
        <p:spPr>
          <a:xfrm>
            <a:off x="838200" y="877078"/>
            <a:ext cx="10515600" cy="5299885"/>
          </a:xfrm>
        </p:spPr>
        <p:txBody>
          <a:bodyPr/>
          <a:lstStyle/>
          <a:p>
            <a:pPr marL="0" indent="0">
              <a:buNone/>
            </a:pPr>
            <a:r>
              <a:rPr lang="en-US" sz="1800" b="1" dirty="0">
                <a:effectLst/>
                <a:latin typeface="Verdana" panose="020B0604030504040204" pitchFamily="34" charset="0"/>
              </a:rPr>
              <a:t>Step</a:t>
            </a:r>
            <a:r>
              <a:rPr lang="en-US" sz="1800" b="1" spc="-5" dirty="0">
                <a:effectLst/>
                <a:latin typeface="Verdana" panose="020B0604030504040204" pitchFamily="34" charset="0"/>
              </a:rPr>
              <a:t> </a:t>
            </a:r>
            <a:r>
              <a:rPr lang="en-US" sz="1800" b="1" dirty="0">
                <a:effectLst/>
                <a:latin typeface="Verdana" panose="020B0604030504040204" pitchFamily="34" charset="0"/>
              </a:rPr>
              <a:t>3</a:t>
            </a:r>
            <a:r>
              <a:rPr lang="en-US" sz="1800" dirty="0">
                <a:effectLst/>
                <a:latin typeface="Verdana" panose="020B0604030504040204" pitchFamily="34" charset="0"/>
              </a:rPr>
              <a:t>:</a:t>
            </a:r>
            <a:r>
              <a:rPr lang="en-US" sz="1800" spc="-5" dirty="0">
                <a:effectLst/>
                <a:latin typeface="Verdana" panose="020B0604030504040204" pitchFamily="34" charset="0"/>
              </a:rPr>
              <a:t> </a:t>
            </a:r>
            <a:r>
              <a:rPr lang="en-US" sz="1800" dirty="0">
                <a:effectLst/>
                <a:latin typeface="Verdana" panose="020B0604030504040204" pitchFamily="34" charset="0"/>
              </a:rPr>
              <a:t>click</a:t>
            </a:r>
            <a:r>
              <a:rPr lang="en-US" sz="1800" spc="-5" dirty="0">
                <a:effectLst/>
                <a:latin typeface="Verdana" panose="020B0604030504040204" pitchFamily="34" charset="0"/>
              </a:rPr>
              <a:t> </a:t>
            </a:r>
            <a:r>
              <a:rPr lang="en-US" sz="1800" dirty="0">
                <a:effectLst/>
                <a:latin typeface="Verdana" panose="020B0604030504040204" pitchFamily="34" charset="0"/>
              </a:rPr>
              <a:t>on reset</a:t>
            </a:r>
            <a:r>
              <a:rPr lang="en-US" sz="1800" spc="-5" dirty="0">
                <a:effectLst/>
                <a:latin typeface="Verdana" panose="020B0604030504040204" pitchFamily="34" charset="0"/>
              </a:rPr>
              <a:t> </a:t>
            </a:r>
            <a:r>
              <a:rPr lang="en-US" sz="1800" dirty="0">
                <a:effectLst/>
                <a:latin typeface="Verdana" panose="020B0604030504040204" pitchFamily="34" charset="0"/>
              </a:rPr>
              <a:t>and reset all</a:t>
            </a:r>
            <a:r>
              <a:rPr lang="en-US" sz="1800" spc="-5" dirty="0">
                <a:effectLst/>
                <a:latin typeface="Verdana" panose="020B0604030504040204" pitchFamily="34" charset="0"/>
              </a:rPr>
              <a:t> </a:t>
            </a:r>
            <a:r>
              <a:rPr lang="en-US" sz="1800" dirty="0">
                <a:effectLst/>
                <a:latin typeface="Verdana" panose="020B0604030504040204" pitchFamily="34" charset="0"/>
              </a:rPr>
              <a:t>the</a:t>
            </a:r>
            <a:r>
              <a:rPr lang="en-US" sz="1800" spc="-10" dirty="0">
                <a:effectLst/>
                <a:latin typeface="Verdana" panose="020B0604030504040204" pitchFamily="34" charset="0"/>
              </a:rPr>
              <a:t> </a:t>
            </a:r>
            <a:r>
              <a:rPr lang="en-US" sz="1800" dirty="0">
                <a:effectLst/>
                <a:latin typeface="Verdana" panose="020B0604030504040204" pitchFamily="34" charset="0"/>
              </a:rPr>
              <a:t>registers by</a:t>
            </a:r>
            <a:r>
              <a:rPr lang="en-US" sz="1800" spc="-20" dirty="0">
                <a:effectLst/>
                <a:latin typeface="Verdana" panose="020B0604030504040204" pitchFamily="34" charset="0"/>
              </a:rPr>
              <a:t> </a:t>
            </a:r>
            <a:r>
              <a:rPr lang="en-US" sz="1800" dirty="0">
                <a:effectLst/>
                <a:latin typeface="Verdana" panose="020B0604030504040204" pitchFamily="34" charset="0"/>
              </a:rPr>
              <a:t>clicking</a:t>
            </a:r>
            <a:r>
              <a:rPr lang="en-US" sz="1800" spc="-15" dirty="0">
                <a:effectLst/>
                <a:latin typeface="Verdana" panose="020B0604030504040204" pitchFamily="34" charset="0"/>
              </a:rPr>
              <a:t> </a:t>
            </a:r>
            <a:r>
              <a:rPr lang="en-US" sz="1800" dirty="0">
                <a:effectLst/>
                <a:latin typeface="Verdana" panose="020B0604030504040204" pitchFamily="34" charset="0"/>
              </a:rPr>
              <a:t>on reset</a:t>
            </a:r>
            <a:r>
              <a:rPr lang="en-US" sz="1800" spc="-5" dirty="0">
                <a:effectLst/>
                <a:latin typeface="Verdana" panose="020B0604030504040204" pitchFamily="34" charset="0"/>
              </a:rPr>
              <a:t> </a:t>
            </a:r>
            <a:r>
              <a:rPr lang="en-US" sz="1800" dirty="0">
                <a:effectLst/>
                <a:latin typeface="Verdana" panose="020B0604030504040204" pitchFamily="34" charset="0"/>
              </a:rPr>
              <a:t>all.</a:t>
            </a:r>
          </a:p>
          <a:p>
            <a:pPr marL="0" indent="0">
              <a:buNone/>
            </a:pPr>
            <a:endParaRPr lang="en-IN" dirty="0"/>
          </a:p>
        </p:txBody>
      </p:sp>
      <p:pic>
        <p:nvPicPr>
          <p:cNvPr id="3" name="Picture 2">
            <a:extLst>
              <a:ext uri="{FF2B5EF4-FFF2-40B4-BE49-F238E27FC236}">
                <a16:creationId xmlns:a16="http://schemas.microsoft.com/office/drawing/2014/main" id="{42BCCBC9-7C0A-006A-7CFB-24457CFCD08E}"/>
              </a:ext>
            </a:extLst>
          </p:cNvPr>
          <p:cNvPicPr>
            <a:picLocks noChangeAspect="1"/>
          </p:cNvPicPr>
          <p:nvPr/>
        </p:nvPicPr>
        <p:blipFill>
          <a:blip r:embed="rId2"/>
          <a:stretch>
            <a:fillRect/>
          </a:stretch>
        </p:blipFill>
        <p:spPr>
          <a:xfrm>
            <a:off x="1007706" y="1645602"/>
            <a:ext cx="10086392" cy="4400635"/>
          </a:xfrm>
          <a:prstGeom prst="rect">
            <a:avLst/>
          </a:prstGeom>
        </p:spPr>
      </p:pic>
    </p:spTree>
    <p:extLst>
      <p:ext uri="{BB962C8B-B14F-4D97-AF65-F5344CB8AC3E}">
        <p14:creationId xmlns:p14="http://schemas.microsoft.com/office/powerpoint/2010/main" val="302060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9710-BEAE-C5A7-F145-BA20CE6BD2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07E33F-5F6B-8A2D-1B76-2428BCB3E301}"/>
              </a:ext>
            </a:extLst>
          </p:cNvPr>
          <p:cNvSpPr>
            <a:spLocks noGrp="1"/>
          </p:cNvSpPr>
          <p:nvPr>
            <p:ph idx="1"/>
          </p:nvPr>
        </p:nvSpPr>
        <p:spPr/>
        <p:txBody>
          <a:bodyPr/>
          <a:lstStyle/>
          <a:p>
            <a:r>
              <a:rPr lang="en-US" sz="1800" b="1" dirty="0">
                <a:effectLst/>
                <a:latin typeface="Verdana" panose="020B0604030504040204" pitchFamily="34" charset="0"/>
              </a:rPr>
              <a:t>Step</a:t>
            </a:r>
            <a:r>
              <a:rPr lang="en-US" sz="1800" b="1" spc="-5" dirty="0">
                <a:effectLst/>
                <a:latin typeface="Verdana" panose="020B0604030504040204" pitchFamily="34" charset="0"/>
              </a:rPr>
              <a:t> </a:t>
            </a:r>
            <a:r>
              <a:rPr lang="en-US" sz="1800" b="1" dirty="0">
                <a:effectLst/>
                <a:latin typeface="Verdana" panose="020B0604030504040204" pitchFamily="34" charset="0"/>
              </a:rPr>
              <a:t>4</a:t>
            </a:r>
            <a:r>
              <a:rPr lang="en-US" sz="1800" dirty="0">
                <a:effectLst/>
                <a:latin typeface="Verdana" panose="020B0604030504040204" pitchFamily="34" charset="0"/>
              </a:rPr>
              <a:t>:</a:t>
            </a:r>
            <a:r>
              <a:rPr lang="en-US" sz="1800" spc="-5" dirty="0">
                <a:effectLst/>
                <a:latin typeface="Verdana" panose="020B0604030504040204" pitchFamily="34" charset="0"/>
              </a:rPr>
              <a:t> </a:t>
            </a:r>
            <a:r>
              <a:rPr lang="en-US" sz="1800" dirty="0">
                <a:effectLst/>
                <a:latin typeface="Verdana" panose="020B0604030504040204" pitchFamily="34" charset="0"/>
              </a:rPr>
              <a:t>click</a:t>
            </a:r>
            <a:r>
              <a:rPr lang="en-US" sz="1800" spc="-10" dirty="0">
                <a:effectLst/>
                <a:latin typeface="Verdana" panose="020B0604030504040204" pitchFamily="34" charset="0"/>
              </a:rPr>
              <a:t> </a:t>
            </a:r>
            <a:r>
              <a:rPr lang="en-US" sz="1800" dirty="0">
                <a:effectLst/>
                <a:latin typeface="Verdana" panose="020B0604030504040204" pitchFamily="34" charset="0"/>
              </a:rPr>
              <a:t>on</a:t>
            </a:r>
            <a:r>
              <a:rPr lang="en-US" sz="1800" spc="-10" dirty="0">
                <a:effectLst/>
                <a:latin typeface="Verdana" panose="020B0604030504040204" pitchFamily="34" charset="0"/>
              </a:rPr>
              <a:t> </a:t>
            </a:r>
            <a:r>
              <a:rPr lang="en-US" sz="1800" dirty="0">
                <a:effectLst/>
                <a:latin typeface="Verdana" panose="020B0604030504040204" pitchFamily="34" charset="0"/>
              </a:rPr>
              <a:t>the</a:t>
            </a:r>
            <a:r>
              <a:rPr lang="en-US" sz="1800" spc="-10" dirty="0">
                <a:effectLst/>
                <a:latin typeface="Verdana" panose="020B0604030504040204" pitchFamily="34" charset="0"/>
              </a:rPr>
              <a:t> </a:t>
            </a:r>
            <a:r>
              <a:rPr lang="en-US" sz="1800" dirty="0">
                <a:effectLst/>
                <a:latin typeface="Verdana" panose="020B0604030504040204" pitchFamily="34" charset="0"/>
              </a:rPr>
              <a:t>highlighted</a:t>
            </a:r>
            <a:r>
              <a:rPr lang="en-US" sz="1800" spc="-10" dirty="0">
                <a:effectLst/>
                <a:latin typeface="Verdana" panose="020B0604030504040204" pitchFamily="34" charset="0"/>
              </a:rPr>
              <a:t> </a:t>
            </a:r>
            <a:r>
              <a:rPr lang="en-US" sz="1800" dirty="0">
                <a:effectLst/>
                <a:latin typeface="Verdana" panose="020B0604030504040204" pitchFamily="34" charset="0"/>
              </a:rPr>
              <a:t>button</a:t>
            </a:r>
            <a:r>
              <a:rPr lang="en-US" sz="1800" spc="-10" dirty="0">
                <a:effectLst/>
                <a:latin typeface="Verdana" panose="020B0604030504040204" pitchFamily="34" charset="0"/>
              </a:rPr>
              <a:t> </a:t>
            </a:r>
            <a:r>
              <a:rPr lang="en-US" sz="1800" dirty="0">
                <a:effectLst/>
                <a:latin typeface="Verdana" panose="020B0604030504040204" pitchFamily="34" charset="0"/>
              </a:rPr>
              <a:t>to</a:t>
            </a:r>
            <a:r>
              <a:rPr lang="en-US" sz="1800" spc="-10" dirty="0">
                <a:effectLst/>
                <a:latin typeface="Verdana" panose="020B0604030504040204" pitchFamily="34" charset="0"/>
              </a:rPr>
              <a:t> </a:t>
            </a:r>
            <a:r>
              <a:rPr lang="en-US" sz="1800" dirty="0">
                <a:effectLst/>
                <a:latin typeface="Verdana" panose="020B0604030504040204" pitchFamily="34" charset="0"/>
              </a:rPr>
              <a:t>execute</a:t>
            </a:r>
            <a:r>
              <a:rPr lang="en-US" sz="1800" spc="-10" dirty="0">
                <a:effectLst/>
                <a:latin typeface="Verdana" panose="020B0604030504040204" pitchFamily="34" charset="0"/>
              </a:rPr>
              <a:t> </a:t>
            </a:r>
            <a:r>
              <a:rPr lang="en-US" sz="1800" dirty="0">
                <a:effectLst/>
                <a:latin typeface="Verdana" panose="020B0604030504040204" pitchFamily="34" charset="0"/>
              </a:rPr>
              <a:t>the</a:t>
            </a:r>
            <a:r>
              <a:rPr lang="en-US" sz="1800" spc="-15" dirty="0">
                <a:effectLst/>
                <a:latin typeface="Verdana" panose="020B0604030504040204" pitchFamily="34" charset="0"/>
              </a:rPr>
              <a:t> </a:t>
            </a:r>
            <a:r>
              <a:rPr lang="en-US" sz="1800" dirty="0">
                <a:effectLst/>
                <a:latin typeface="Verdana" panose="020B0604030504040204" pitchFamily="34" charset="0"/>
              </a:rPr>
              <a:t>code.</a:t>
            </a:r>
          </a:p>
          <a:p>
            <a:endParaRPr lang="en-IN" dirty="0"/>
          </a:p>
        </p:txBody>
      </p:sp>
      <p:pic>
        <p:nvPicPr>
          <p:cNvPr id="4" name="Picture 3">
            <a:extLst>
              <a:ext uri="{FF2B5EF4-FFF2-40B4-BE49-F238E27FC236}">
                <a16:creationId xmlns:a16="http://schemas.microsoft.com/office/drawing/2014/main" id="{2FAA146C-53B6-8953-BC1E-403A9CAF1E8F}"/>
              </a:ext>
            </a:extLst>
          </p:cNvPr>
          <p:cNvPicPr>
            <a:picLocks noChangeAspect="1"/>
          </p:cNvPicPr>
          <p:nvPr/>
        </p:nvPicPr>
        <p:blipFill>
          <a:blip r:embed="rId2"/>
          <a:stretch>
            <a:fillRect/>
          </a:stretch>
        </p:blipFill>
        <p:spPr>
          <a:xfrm>
            <a:off x="522514" y="2397918"/>
            <a:ext cx="9134670" cy="3913981"/>
          </a:xfrm>
          <a:prstGeom prst="rect">
            <a:avLst/>
          </a:prstGeom>
        </p:spPr>
      </p:pic>
    </p:spTree>
    <p:extLst>
      <p:ext uri="{BB962C8B-B14F-4D97-AF65-F5344CB8AC3E}">
        <p14:creationId xmlns:p14="http://schemas.microsoft.com/office/powerpoint/2010/main" val="1827821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D6C18-DAD8-83B0-7A20-5CDF52FF8C87}"/>
              </a:ext>
            </a:extLst>
          </p:cNvPr>
          <p:cNvSpPr>
            <a:spLocks noGrp="1"/>
          </p:cNvSpPr>
          <p:nvPr>
            <p:ph idx="1"/>
          </p:nvPr>
        </p:nvSpPr>
        <p:spPr>
          <a:xfrm>
            <a:off x="838200" y="923731"/>
            <a:ext cx="10515600" cy="5253232"/>
          </a:xfrm>
        </p:spPr>
        <p:txBody>
          <a:bodyPr/>
          <a:lstStyle/>
          <a:p>
            <a:r>
              <a:rPr lang="en-US" sz="1800" b="1" kern="100" dirty="0">
                <a:effectLst/>
                <a:latin typeface="Calibri" panose="020F0502020204030204" pitchFamily="34" charset="0"/>
                <a:ea typeface="宋体" panose="02010600030101010101" pitchFamily="2" charset="-122"/>
              </a:rPr>
              <a:t>Step</a:t>
            </a:r>
            <a:r>
              <a:rPr lang="en-US" sz="1800" b="1" kern="100" spc="-10" dirty="0">
                <a:effectLst/>
                <a:latin typeface="Calibri" panose="020F0502020204030204" pitchFamily="34" charset="0"/>
                <a:ea typeface="宋体" panose="02010600030101010101" pitchFamily="2" charset="-122"/>
              </a:rPr>
              <a:t> </a:t>
            </a:r>
            <a:r>
              <a:rPr lang="en-US" sz="1800" b="1" kern="100" dirty="0">
                <a:effectLst/>
                <a:latin typeface="Calibri" panose="020F0502020204030204" pitchFamily="34" charset="0"/>
                <a:ea typeface="宋体" panose="02010600030101010101" pitchFamily="2" charset="-122"/>
              </a:rPr>
              <a:t>5</a:t>
            </a:r>
            <a:r>
              <a:rPr lang="en-US" sz="1800" kern="100" dirty="0">
                <a:effectLst/>
                <a:latin typeface="Calibri" panose="020F0502020204030204" pitchFamily="34" charset="0"/>
                <a:ea typeface="宋体" panose="02010600030101010101" pitchFamily="2" charset="-122"/>
              </a:rPr>
              <a:t>:</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after</a:t>
            </a:r>
            <a:r>
              <a:rPr lang="en-US" sz="1800" kern="100" spc="-1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this</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you</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will</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see</a:t>
            </a:r>
            <a:r>
              <a:rPr lang="en-US" sz="1800" kern="100" spc="-1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the</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result</a:t>
            </a:r>
            <a:r>
              <a:rPr lang="en-US" sz="1800" kern="100" spc="-10"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of</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the</a:t>
            </a:r>
            <a:r>
              <a:rPr lang="en-US" sz="1800" kern="100" spc="-1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instructions</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in</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the</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respective registers</a:t>
            </a:r>
            <a:r>
              <a:rPr lang="en-US" sz="1800" kern="100" spc="-5" dirty="0">
                <a:effectLst/>
                <a:latin typeface="Calibri" panose="020F0502020204030204" pitchFamily="34" charset="0"/>
                <a:ea typeface="宋体" panose="02010600030101010101" pitchFamily="2" charset="-122"/>
              </a:rPr>
              <a:t>  and memory </a:t>
            </a:r>
            <a:r>
              <a:rPr lang="en-US" sz="1800" kern="100" dirty="0">
                <a:effectLst/>
                <a:latin typeface="Calibri" panose="020F0502020204030204" pitchFamily="34" charset="0"/>
                <a:ea typeface="宋体" panose="02010600030101010101" pitchFamily="2" charset="-122"/>
              </a:rPr>
              <a:t>as</a:t>
            </a:r>
            <a:r>
              <a:rPr lang="en-US" sz="1800" kern="100" spc="-10"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seen</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in</a:t>
            </a:r>
            <a:r>
              <a:rPr lang="en-US" sz="1800" kern="100" spc="-28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the above</a:t>
            </a:r>
            <a:r>
              <a:rPr lang="en-US" sz="1800" kern="100" spc="-10"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picture</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5.</a:t>
            </a:r>
          </a:p>
          <a:p>
            <a:pPr marL="0" indent="0">
              <a:buNone/>
            </a:pPr>
            <a:endParaRPr lang="en-IN" dirty="0"/>
          </a:p>
        </p:txBody>
      </p:sp>
      <p:pic>
        <p:nvPicPr>
          <p:cNvPr id="4" name="Picture 3">
            <a:extLst>
              <a:ext uri="{FF2B5EF4-FFF2-40B4-BE49-F238E27FC236}">
                <a16:creationId xmlns:a16="http://schemas.microsoft.com/office/drawing/2014/main" id="{59FB218E-EF79-43DB-9CC3-47D82DF1EAA1}"/>
              </a:ext>
            </a:extLst>
          </p:cNvPr>
          <p:cNvPicPr>
            <a:picLocks noChangeAspect="1"/>
          </p:cNvPicPr>
          <p:nvPr/>
        </p:nvPicPr>
        <p:blipFill>
          <a:blip r:embed="rId2"/>
          <a:stretch>
            <a:fillRect/>
          </a:stretch>
        </p:blipFill>
        <p:spPr>
          <a:xfrm>
            <a:off x="1147665" y="1538287"/>
            <a:ext cx="8929396" cy="4573264"/>
          </a:xfrm>
          <a:prstGeom prst="rect">
            <a:avLst/>
          </a:prstGeom>
        </p:spPr>
      </p:pic>
    </p:spTree>
    <p:extLst>
      <p:ext uri="{BB962C8B-B14F-4D97-AF65-F5344CB8AC3E}">
        <p14:creationId xmlns:p14="http://schemas.microsoft.com/office/powerpoint/2010/main" val="3430713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09500-A032-3C3D-0F10-3262E0E31E1C}"/>
              </a:ext>
            </a:extLst>
          </p:cNvPr>
          <p:cNvSpPr>
            <a:spLocks noGrp="1"/>
          </p:cNvSpPr>
          <p:nvPr>
            <p:ph idx="1"/>
          </p:nvPr>
        </p:nvSpPr>
        <p:spPr/>
        <p:txBody>
          <a:bodyPr/>
          <a:lstStyle/>
          <a:p>
            <a:r>
              <a:rPr lang="en-US" sz="1800" b="1" kern="100" dirty="0">
                <a:effectLst/>
                <a:latin typeface="Calibri" panose="020F0502020204030204" pitchFamily="34" charset="0"/>
                <a:ea typeface="宋体" panose="02010600030101010101" pitchFamily="2" charset="-122"/>
              </a:rPr>
              <a:t>Step</a:t>
            </a:r>
            <a:r>
              <a:rPr lang="en-US" sz="1800" b="1" kern="100" spc="-10" dirty="0">
                <a:effectLst/>
                <a:latin typeface="Calibri" panose="020F0502020204030204" pitchFamily="34" charset="0"/>
                <a:ea typeface="宋体" panose="02010600030101010101" pitchFamily="2" charset="-122"/>
              </a:rPr>
              <a:t> </a:t>
            </a:r>
            <a:r>
              <a:rPr lang="en-US" sz="1800" b="1" kern="100" dirty="0">
                <a:effectLst/>
                <a:latin typeface="Calibri" panose="020F0502020204030204" pitchFamily="34" charset="0"/>
                <a:ea typeface="宋体" panose="02010600030101010101" pitchFamily="2" charset="-122"/>
              </a:rPr>
              <a:t>6</a:t>
            </a:r>
            <a:r>
              <a:rPr lang="en-US" sz="1800" kern="100" dirty="0">
                <a:effectLst/>
                <a:latin typeface="Calibri" panose="020F0502020204030204" pitchFamily="34" charset="0"/>
                <a:ea typeface="宋体" panose="02010600030101010101" pitchFamily="2" charset="-122"/>
              </a:rPr>
              <a:t>:</a:t>
            </a:r>
            <a:r>
              <a:rPr lang="en-US" sz="1800" kern="100" spc="-5" dirty="0">
                <a:effectLst/>
                <a:latin typeface="Calibri" panose="020F0502020204030204" pitchFamily="34" charset="0"/>
                <a:ea typeface="宋体" panose="02010600030101010101" pitchFamily="2" charset="-122"/>
              </a:rPr>
              <a:t> Click on Show listing option to show the </a:t>
            </a:r>
            <a:r>
              <a:rPr lang="en-US" sz="1800" kern="100" dirty="0">
                <a:effectLst/>
                <a:latin typeface="Calibri" panose="020F0502020204030204" pitchFamily="34" charset="0"/>
                <a:ea typeface="宋体" panose="02010600030101010101" pitchFamily="2" charset="-122"/>
              </a:rPr>
              <a:t>detail</a:t>
            </a:r>
            <a:r>
              <a:rPr lang="en-US" sz="1800" kern="100" spc="-15" dirty="0">
                <a:effectLst/>
                <a:latin typeface="Calibri" panose="020F0502020204030204" pitchFamily="34" charset="0"/>
                <a:ea typeface="宋体" panose="02010600030101010101" pitchFamily="2" charset="-122"/>
              </a:rPr>
              <a:t>s of machine code along with memory locations </a:t>
            </a:r>
            <a:r>
              <a:rPr lang="en-US" sz="1800" kern="100" dirty="0">
                <a:effectLst/>
                <a:latin typeface="Calibri" panose="020F0502020204030204" pitchFamily="34" charset="0"/>
                <a:ea typeface="宋体" panose="02010600030101010101" pitchFamily="2" charset="-122"/>
              </a:rPr>
              <a:t>as</a:t>
            </a:r>
            <a:r>
              <a:rPr lang="en-US" sz="1800" kern="100" spc="-10"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seen</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in</a:t>
            </a:r>
            <a:r>
              <a:rPr lang="en-US" sz="1800" kern="100" spc="-28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 picture</a:t>
            </a:r>
            <a:r>
              <a:rPr lang="en-US" sz="1800" kern="100" spc="-5" dirty="0">
                <a:effectLst/>
                <a:latin typeface="Calibri" panose="020F0502020204030204" pitchFamily="34" charset="0"/>
                <a:ea typeface="宋体" panose="02010600030101010101" pitchFamily="2" charset="-122"/>
              </a:rPr>
              <a:t> </a:t>
            </a:r>
            <a:r>
              <a:rPr lang="en-US" sz="1800" kern="100" dirty="0">
                <a:effectLst/>
                <a:latin typeface="Calibri" panose="020F0502020204030204" pitchFamily="34" charset="0"/>
                <a:ea typeface="宋体" panose="02010600030101010101" pitchFamily="2" charset="-122"/>
              </a:rPr>
              <a:t>6.</a:t>
            </a:r>
          </a:p>
          <a:p>
            <a:pPr marL="0" indent="0">
              <a:buNone/>
            </a:pPr>
            <a:endParaRPr lang="en-IN" dirty="0"/>
          </a:p>
        </p:txBody>
      </p:sp>
      <p:pic>
        <p:nvPicPr>
          <p:cNvPr id="4" name="Picture 3">
            <a:extLst>
              <a:ext uri="{FF2B5EF4-FFF2-40B4-BE49-F238E27FC236}">
                <a16:creationId xmlns:a16="http://schemas.microsoft.com/office/drawing/2014/main" id="{B40FB31E-92CC-9448-7992-FF22DE03B488}"/>
              </a:ext>
            </a:extLst>
          </p:cNvPr>
          <p:cNvPicPr>
            <a:picLocks noChangeAspect="1"/>
          </p:cNvPicPr>
          <p:nvPr/>
        </p:nvPicPr>
        <p:blipFill>
          <a:blip r:embed="rId2"/>
          <a:stretch>
            <a:fillRect/>
          </a:stretch>
        </p:blipFill>
        <p:spPr>
          <a:xfrm>
            <a:off x="1455576" y="2391410"/>
            <a:ext cx="8686800" cy="3920490"/>
          </a:xfrm>
          <a:prstGeom prst="rect">
            <a:avLst/>
          </a:prstGeom>
        </p:spPr>
      </p:pic>
    </p:spTree>
    <p:extLst>
      <p:ext uri="{BB962C8B-B14F-4D97-AF65-F5344CB8AC3E}">
        <p14:creationId xmlns:p14="http://schemas.microsoft.com/office/powerpoint/2010/main" val="4106627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74B34-21A5-31B7-7A18-CEB4D18EAD5A}"/>
              </a:ext>
            </a:extLst>
          </p:cNvPr>
          <p:cNvSpPr>
            <a:spLocks noGrp="1"/>
          </p:cNvSpPr>
          <p:nvPr>
            <p:ph idx="1"/>
          </p:nvPr>
        </p:nvSpPr>
        <p:spPr/>
        <p:txBody>
          <a:bodyPr/>
          <a:lstStyle/>
          <a:p>
            <a:r>
              <a:rPr lang="en-US" sz="1800" dirty="0">
                <a:solidFill>
                  <a:srgbClr val="000000"/>
                </a:solidFill>
                <a:effectLst/>
                <a:latin typeface="Verdana" panose="020B0604030504040204" pitchFamily="34" charset="0"/>
              </a:rPr>
              <a:t>Click on Show listing option to show the details of machine code along with memory locations </a:t>
            </a:r>
            <a:endParaRPr lang="en-IN" dirty="0"/>
          </a:p>
        </p:txBody>
      </p:sp>
      <p:pic>
        <p:nvPicPr>
          <p:cNvPr id="5" name="Picture 4">
            <a:extLst>
              <a:ext uri="{FF2B5EF4-FFF2-40B4-BE49-F238E27FC236}">
                <a16:creationId xmlns:a16="http://schemas.microsoft.com/office/drawing/2014/main" id="{586F8C54-C60B-D5A4-1E7B-E865FF19A3B8}"/>
              </a:ext>
            </a:extLst>
          </p:cNvPr>
          <p:cNvPicPr>
            <a:picLocks noChangeAspect="1"/>
          </p:cNvPicPr>
          <p:nvPr/>
        </p:nvPicPr>
        <p:blipFill>
          <a:blip r:embed="rId2"/>
          <a:stretch>
            <a:fillRect/>
          </a:stretch>
        </p:blipFill>
        <p:spPr>
          <a:xfrm>
            <a:off x="1473219" y="3581294"/>
            <a:ext cx="8473214" cy="2438611"/>
          </a:xfrm>
          <a:prstGeom prst="rect">
            <a:avLst/>
          </a:prstGeom>
        </p:spPr>
      </p:pic>
    </p:spTree>
    <p:extLst>
      <p:ext uri="{BB962C8B-B14F-4D97-AF65-F5344CB8AC3E}">
        <p14:creationId xmlns:p14="http://schemas.microsoft.com/office/powerpoint/2010/main" val="462941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00F143-C2B7-B03F-3B50-1FFD74764512}"/>
              </a:ext>
            </a:extLst>
          </p:cNvPr>
          <p:cNvSpPr>
            <a:spLocks noGrp="1"/>
          </p:cNvSpPr>
          <p:nvPr>
            <p:ph idx="1"/>
          </p:nvPr>
        </p:nvSpPr>
        <p:spPr/>
        <p:txBody>
          <a:bodyPr/>
          <a:lstStyle/>
          <a:p>
            <a:pPr marL="0" indent="0">
              <a:buNone/>
            </a:pPr>
            <a:r>
              <a:rPr lang="en-US" dirty="0"/>
              <a:t>1. An assembly program to add two numbers.</a:t>
            </a:r>
          </a:p>
          <a:p>
            <a:pPr marL="0" indent="0">
              <a:buNone/>
            </a:pPr>
            <a:r>
              <a:rPr lang="en-US" dirty="0"/>
              <a:t>2. An assembly program to subtract two numbers.</a:t>
            </a:r>
          </a:p>
          <a:p>
            <a:pPr marL="0" indent="0">
              <a:buNone/>
            </a:pPr>
            <a:endParaRPr lang="en-IN" dirty="0"/>
          </a:p>
        </p:txBody>
      </p:sp>
    </p:spTree>
    <p:extLst>
      <p:ext uri="{BB962C8B-B14F-4D97-AF65-F5344CB8AC3E}">
        <p14:creationId xmlns:p14="http://schemas.microsoft.com/office/powerpoint/2010/main" val="2640615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1196</Words>
  <Application>Microsoft Office PowerPoint</Application>
  <PresentationFormat>Widescreen</PresentationFormat>
  <Paragraphs>119</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Calibri Light</vt:lpstr>
      <vt:lpstr>Cambria</vt:lpstr>
      <vt:lpstr>erdana</vt:lpstr>
      <vt:lpstr>inter-regular</vt:lpstr>
      <vt:lpstr>Symbol</vt:lpstr>
      <vt:lpstr>times new roman</vt:lpstr>
      <vt:lpstr>Verdana</vt:lpstr>
      <vt:lpstr>Office Theme</vt:lpstr>
      <vt:lpstr>8085 Assembly Language</vt:lpstr>
      <vt:lpstr>Experiment</vt:lpstr>
      <vt:lpstr>PowerPoint Presentation</vt:lpstr>
      <vt:lpstr>Format of the instruction in assembly language is :- </vt:lpstr>
      <vt:lpstr>PowerPoint Presentation</vt:lpstr>
      <vt:lpstr>Registers</vt:lpstr>
      <vt:lpstr>PowerPoint Presentation</vt:lpstr>
      <vt:lpstr>PowerPoint Presentation</vt:lpstr>
      <vt:lpstr>Instructions</vt:lpstr>
      <vt:lpstr>Data transfer instructions</vt:lpstr>
      <vt:lpstr>Arithmetic group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8085 Assembly Language</dc:title>
  <dc:creator>Shreela Dash</dc:creator>
  <cp:lastModifiedBy>Shreela Dash</cp:lastModifiedBy>
  <cp:revision>14</cp:revision>
  <dcterms:created xsi:type="dcterms:W3CDTF">2023-11-03T10:01:23Z</dcterms:created>
  <dcterms:modified xsi:type="dcterms:W3CDTF">2026-02-03T05:30:54Z</dcterms:modified>
</cp:coreProperties>
</file>